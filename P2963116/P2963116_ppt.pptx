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5" r:id="rId4"/>
    <p:sldId id="259" r:id="rId5"/>
    <p:sldId id="269" r:id="rId6"/>
    <p:sldId id="258" r:id="rId7"/>
    <p:sldId id="267" r:id="rId8"/>
    <p:sldId id="268" r:id="rId9"/>
    <p:sldId id="262" r:id="rId10"/>
    <p:sldId id="264" r:id="rId11"/>
    <p:sldId id="270" r:id="rId12"/>
    <p:sldId id="26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01920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3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508439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15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799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5480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5695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83479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691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6118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7944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4A62E54F-74CC-41CA-B59D-BE68632D6B50}" type="datetimeFigureOut">
              <a:rPr kumimoji="1" lang="ja-JP" altLang="en-US" smtClean="0"/>
              <a:t>2025/11/3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7FCF896E-2366-4B6D-8214-F21DB149DB4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64641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BA7F3F-D56F-4C06-84AC-03FC83B06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15374B5-D7C8-4AA9-BE65-DB7A0CA9B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C73A7452-ED0F-4903-A620-8D103E556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F6A3F6CE-D581-4C37-8822-4F4A68325E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D07B75BA-21C4-5E95-8C5A-81E36ECBA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Neural Systems Coursework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520110E-2DCE-8F07-F16A-CA33AA88CD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kumimoji="1" lang="en-US" altLang="ja-JP" dirty="0"/>
              <a:t>Myles Wheatley – P2963116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48559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F90CED2-72DA-49F5-8068-294F7EEF1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9B7154-1B52-C5DA-8E68-E30940BDB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en-US" altLang="ja-JP" dirty="0"/>
              <a:t>ANN Architecture</a:t>
            </a:r>
            <a:endParaRPr kumimoji="1" lang="en-US" altLang="ja-JP"/>
          </a:p>
        </p:txBody>
      </p:sp>
      <p:graphicFrame>
        <p:nvGraphicFramePr>
          <p:cNvPr id="13" name="コンテンツ プレースホルダー 3">
            <a:extLst>
              <a:ext uri="{FF2B5EF4-FFF2-40B4-BE49-F238E27FC236}">
                <a16:creationId xmlns:a16="http://schemas.microsoft.com/office/drawing/2014/main" id="{97109025-F990-A6B3-9CCB-69DFA879034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440605440"/>
              </p:ext>
            </p:extLst>
          </p:nvPr>
        </p:nvGraphicFramePr>
        <p:xfrm>
          <a:off x="1434854" y="2286000"/>
          <a:ext cx="9474693" cy="358140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08524">
                  <a:extLst>
                    <a:ext uri="{9D8B030D-6E8A-4147-A177-3AD203B41FA5}">
                      <a16:colId xmlns:a16="http://schemas.microsoft.com/office/drawing/2014/main" val="492625597"/>
                    </a:ext>
                  </a:extLst>
                </a:gridCol>
                <a:gridCol w="2008524">
                  <a:extLst>
                    <a:ext uri="{9D8B030D-6E8A-4147-A177-3AD203B41FA5}">
                      <a16:colId xmlns:a16="http://schemas.microsoft.com/office/drawing/2014/main" val="4176513003"/>
                    </a:ext>
                  </a:extLst>
                </a:gridCol>
                <a:gridCol w="2405315">
                  <a:extLst>
                    <a:ext uri="{9D8B030D-6E8A-4147-A177-3AD203B41FA5}">
                      <a16:colId xmlns:a16="http://schemas.microsoft.com/office/drawing/2014/main" val="1436058226"/>
                    </a:ext>
                  </a:extLst>
                </a:gridCol>
                <a:gridCol w="3052330">
                  <a:extLst>
                    <a:ext uri="{9D8B030D-6E8A-4147-A177-3AD203B41FA5}">
                      <a16:colId xmlns:a16="http://schemas.microsoft.com/office/drawing/2014/main" val="2557779021"/>
                    </a:ext>
                  </a:extLst>
                </a:gridCol>
              </a:tblGrid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Layer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Type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Size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Activation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564266015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Input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Image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28x28x1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-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4045395388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 dirty="0"/>
                        <a:t>Flatten</a:t>
                      </a:r>
                      <a:endParaRPr kumimoji="1" lang="ja-JP" altLang="en-US" sz="2300" dirty="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Flatten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784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-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3639936735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392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674952096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2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196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2281561552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3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98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err="1"/>
                        <a:t>ReLU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2169240604"/>
                  </a:ext>
                </a:extLst>
              </a:tr>
              <a:tr h="511629"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Output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Linear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/>
                        <a:t>10</a:t>
                      </a:r>
                      <a:endParaRPr kumimoji="1" lang="ja-JP" altLang="en-US" sz="2300"/>
                    </a:p>
                  </a:txBody>
                  <a:tcPr marL="116279" marR="116279" marT="58140" marB="58140"/>
                </a:tc>
                <a:tc>
                  <a:txBody>
                    <a:bodyPr/>
                    <a:lstStyle/>
                    <a:p>
                      <a:r>
                        <a:rPr kumimoji="1" lang="en-US" altLang="ja-JP" sz="2300" dirty="0"/>
                        <a:t>Log </a:t>
                      </a:r>
                      <a:r>
                        <a:rPr kumimoji="1" lang="en-US" altLang="ja-JP" sz="2300" dirty="0" err="1"/>
                        <a:t>Softmax</a:t>
                      </a:r>
                      <a:endParaRPr kumimoji="1" lang="ja-JP" altLang="en-US" sz="2300" dirty="0"/>
                    </a:p>
                  </a:txBody>
                  <a:tcPr marL="116279" marR="116279" marT="58140" marB="58140"/>
                </a:tc>
                <a:extLst>
                  <a:ext uri="{0D108BD9-81ED-4DB2-BD59-A6C34878D82A}">
                    <a16:rowId xmlns:a16="http://schemas.microsoft.com/office/drawing/2014/main" val="775611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2511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D6DD5A-7C14-14B2-258E-959C9EB08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Training Performance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D60C0A-2CE4-6B18-38B2-E434249C90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8E61C90-992C-1D07-7E73-9B81380084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496060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1E7BD7-4364-FE88-2FAF-4E685789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Implementing Dropout</a:t>
            </a:r>
            <a:endParaRPr kumimoji="1" lang="ja-JP" altLang="en-US" dirty="0"/>
          </a:p>
        </p:txBody>
      </p:sp>
      <p:graphicFrame>
        <p:nvGraphicFramePr>
          <p:cNvPr id="9" name="コンテンツ プレースホルダー 3">
            <a:extLst>
              <a:ext uri="{FF2B5EF4-FFF2-40B4-BE49-F238E27FC236}">
                <a16:creationId xmlns:a16="http://schemas.microsoft.com/office/drawing/2014/main" id="{8137D65D-99B7-3B9C-FC51-36E3CD7BE5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1188854"/>
              </p:ext>
            </p:extLst>
          </p:nvPr>
        </p:nvGraphicFramePr>
        <p:xfrm>
          <a:off x="1459650" y="2286000"/>
          <a:ext cx="9425102" cy="3581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81459">
                  <a:extLst>
                    <a:ext uri="{9D8B030D-6E8A-4147-A177-3AD203B41FA5}">
                      <a16:colId xmlns:a16="http://schemas.microsoft.com/office/drawing/2014/main" val="492625597"/>
                    </a:ext>
                  </a:extLst>
                </a:gridCol>
                <a:gridCol w="2176302">
                  <a:extLst>
                    <a:ext uri="{9D8B030D-6E8A-4147-A177-3AD203B41FA5}">
                      <a16:colId xmlns:a16="http://schemas.microsoft.com/office/drawing/2014/main" val="4176513003"/>
                    </a:ext>
                  </a:extLst>
                </a:gridCol>
                <a:gridCol w="2340743">
                  <a:extLst>
                    <a:ext uri="{9D8B030D-6E8A-4147-A177-3AD203B41FA5}">
                      <a16:colId xmlns:a16="http://schemas.microsoft.com/office/drawing/2014/main" val="1436058226"/>
                    </a:ext>
                  </a:extLst>
                </a:gridCol>
                <a:gridCol w="2926598">
                  <a:extLst>
                    <a:ext uri="{9D8B030D-6E8A-4147-A177-3AD203B41FA5}">
                      <a16:colId xmlns:a16="http://schemas.microsoft.com/office/drawing/2014/main" val="2557779021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Layer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Type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Size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Activation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56426601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Input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Image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28x28x1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4045395388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Flatten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Flatten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784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363993673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392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674952096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12978554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196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281561552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091509339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3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98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err="1"/>
                        <a:t>ReLU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169240604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Dropout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p=0.2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-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2639242605"/>
                  </a:ext>
                </a:extLst>
              </a:tr>
              <a:tr h="358140"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Output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Linear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/>
                        <a:t>10</a:t>
                      </a:r>
                      <a:endParaRPr kumimoji="1" lang="ja-JP" altLang="en-US" sz="1600"/>
                    </a:p>
                  </a:txBody>
                  <a:tcPr marL="81395" marR="81395" marT="40698" marB="40698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Log </a:t>
                      </a:r>
                      <a:r>
                        <a:rPr kumimoji="1" lang="en-US" altLang="ja-JP" sz="1600" dirty="0" err="1"/>
                        <a:t>Softmax</a:t>
                      </a:r>
                      <a:endParaRPr kumimoji="1" lang="ja-JP" altLang="en-US" sz="1600" dirty="0"/>
                    </a:p>
                  </a:txBody>
                  <a:tcPr marL="81395" marR="81395" marT="40698" marB="40698"/>
                </a:tc>
                <a:extLst>
                  <a:ext uri="{0D108BD9-81ED-4DB2-BD59-A6C34878D82A}">
                    <a16:rowId xmlns:a16="http://schemas.microsoft.com/office/drawing/2014/main" val="775611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457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102474-9DBE-BD8C-DDF5-1E604BA72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Training </a:t>
            </a:r>
            <a:r>
              <a:rPr lang="en-US" altLang="ja-JP" dirty="0"/>
              <a:t>Improvements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FD1179-9630-E040-35CD-6506CE97DD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91333B-19CF-A394-876D-5F12F19FA7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1167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ECE46C-FFB3-8185-6EF7-17A41D69E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CNN Architecture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9B8552C-13F0-A9BE-12FB-4E1E4C393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4 convolution layers with 2 max pool layers.</a:t>
            </a:r>
          </a:p>
          <a:p>
            <a:r>
              <a:rPr kumimoji="1" lang="en-US" altLang="ja-JP" dirty="0"/>
              <a:t>3 Dense layers after flattening the output of the convolution layers.</a:t>
            </a:r>
            <a:endParaRPr kumimoji="1" lang="ja-JP" altLang="en-US" dirty="0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08A53BBB-04BB-58AE-7CB0-75E168F77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188" t="38334" b="31666"/>
          <a:stretch>
            <a:fillRect/>
          </a:stretch>
        </p:blipFill>
        <p:spPr>
          <a:xfrm>
            <a:off x="1681883" y="3429000"/>
            <a:ext cx="8828233" cy="205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1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3D7C79-3DDD-E2BD-6A43-D3D0BDE83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Overall:</a:t>
            </a:r>
            <a:endParaRPr kumimoji="1" lang="ja-JP" alt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C8302839-D377-4C15-5136-B62C86C30E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4208744"/>
              </p:ext>
            </p:extLst>
          </p:nvPr>
        </p:nvGraphicFramePr>
        <p:xfrm>
          <a:off x="1484792" y="2286000"/>
          <a:ext cx="9374819" cy="358141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75444">
                  <a:extLst>
                    <a:ext uri="{9D8B030D-6E8A-4147-A177-3AD203B41FA5}">
                      <a16:colId xmlns:a16="http://schemas.microsoft.com/office/drawing/2014/main" val="1879966933"/>
                    </a:ext>
                  </a:extLst>
                </a:gridCol>
                <a:gridCol w="1361792">
                  <a:extLst>
                    <a:ext uri="{9D8B030D-6E8A-4147-A177-3AD203B41FA5}">
                      <a16:colId xmlns:a16="http://schemas.microsoft.com/office/drawing/2014/main" val="1963412920"/>
                    </a:ext>
                  </a:extLst>
                </a:gridCol>
                <a:gridCol w="1502877">
                  <a:extLst>
                    <a:ext uri="{9D8B030D-6E8A-4147-A177-3AD203B41FA5}">
                      <a16:colId xmlns:a16="http://schemas.microsoft.com/office/drawing/2014/main" val="1574051892"/>
                    </a:ext>
                  </a:extLst>
                </a:gridCol>
                <a:gridCol w="1275444">
                  <a:extLst>
                    <a:ext uri="{9D8B030D-6E8A-4147-A177-3AD203B41FA5}">
                      <a16:colId xmlns:a16="http://schemas.microsoft.com/office/drawing/2014/main" val="4030585622"/>
                    </a:ext>
                  </a:extLst>
                </a:gridCol>
                <a:gridCol w="1293798">
                  <a:extLst>
                    <a:ext uri="{9D8B030D-6E8A-4147-A177-3AD203B41FA5}">
                      <a16:colId xmlns:a16="http://schemas.microsoft.com/office/drawing/2014/main" val="3712970586"/>
                    </a:ext>
                  </a:extLst>
                </a:gridCol>
                <a:gridCol w="1275444">
                  <a:extLst>
                    <a:ext uri="{9D8B030D-6E8A-4147-A177-3AD203B41FA5}">
                      <a16:colId xmlns:a16="http://schemas.microsoft.com/office/drawing/2014/main" val="1158452690"/>
                    </a:ext>
                  </a:extLst>
                </a:gridCol>
                <a:gridCol w="1390020">
                  <a:extLst>
                    <a:ext uri="{9D8B030D-6E8A-4147-A177-3AD203B41FA5}">
                      <a16:colId xmlns:a16="http://schemas.microsoft.com/office/drawing/2014/main" val="3634120696"/>
                    </a:ext>
                  </a:extLst>
                </a:gridCol>
              </a:tblGrid>
              <a:tr h="255815">
                <a:tc gridSpan="2">
                  <a:txBody>
                    <a:bodyPr/>
                    <a:lstStyle/>
                    <a:p>
                      <a:r>
                        <a:rPr kumimoji="1" lang="en-US" altLang="ja-JP" sz="1100" dirty="0"/>
                        <a:t>Layer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Feature Maps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Size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Kernel Size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Stride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Activation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954135237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Input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Image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28x28x1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548919792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26x26x32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886249736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24x24x32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027534296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Max Pooling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12x12x32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2x2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(2,2)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44308664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10x10x64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966646218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Convolution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8x8x64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3x3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(1,1)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499623719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Max Pooling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4x4x64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2x2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(2,2)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615999554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Flatten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1024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1776601208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128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728840207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Dropout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p=0.5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386799453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64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ReLU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4058937682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Dropout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p=0.5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2936755122"/>
                  </a:ext>
                </a:extLst>
              </a:tr>
              <a:tr h="255815"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Output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Linear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10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/>
                        <a:t>-</a:t>
                      </a:r>
                      <a:endParaRPr kumimoji="1" lang="ja-JP" altLang="en-US" sz="1100"/>
                    </a:p>
                  </a:txBody>
                  <a:tcPr marL="58140" marR="58140" marT="29070" marB="29070"/>
                </a:tc>
                <a:tc>
                  <a:txBody>
                    <a:bodyPr/>
                    <a:lstStyle/>
                    <a:p>
                      <a:r>
                        <a:rPr kumimoji="1" lang="en-US" altLang="ja-JP" sz="1100" dirty="0"/>
                        <a:t>Log </a:t>
                      </a:r>
                      <a:r>
                        <a:rPr kumimoji="1" lang="en-US" altLang="ja-JP" sz="1100" dirty="0" err="1"/>
                        <a:t>Softmax</a:t>
                      </a:r>
                      <a:endParaRPr kumimoji="1" lang="ja-JP" altLang="en-US" sz="1100" dirty="0"/>
                    </a:p>
                  </a:txBody>
                  <a:tcPr marL="58140" marR="58140" marT="29070" marB="29070"/>
                </a:tc>
                <a:extLst>
                  <a:ext uri="{0D108BD9-81ED-4DB2-BD59-A6C34878D82A}">
                    <a16:rowId xmlns:a16="http://schemas.microsoft.com/office/drawing/2014/main" val="334401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35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AFB445-6F04-B5E1-A6F4-012DD571D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Performance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5A41333-EF7C-4189-A23C-AD425B8F585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43C5936-EE1B-6595-23FF-B167E25C20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00951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D3DF80-F0DA-1556-353B-295C73F0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Accuracy Comparison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EE84C3D-D12A-2859-2464-0561424A57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0DDD725-1198-1AF2-A8E9-E826956E399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7476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273D1C-8DF5-9BC7-395C-19AEFCD4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Hyperparameters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A2C808-DADE-6C6C-80CC-E5585788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SGD vs Adam</a:t>
            </a:r>
          </a:p>
          <a:p>
            <a:r>
              <a:rPr lang="en-US" altLang="ja-JP" dirty="0"/>
              <a:t>Epochs and learning rate</a:t>
            </a:r>
          </a:p>
          <a:p>
            <a:r>
              <a:rPr lang="en-US" altLang="ja-JP" dirty="0"/>
              <a:t>Criterion/Activation – </a:t>
            </a:r>
            <a:r>
              <a:rPr lang="en-US" altLang="ja-JP" dirty="0" err="1"/>
              <a:t>NLLLoss</a:t>
            </a:r>
            <a:r>
              <a:rPr lang="en-US" altLang="ja-JP" dirty="0"/>
              <a:t> and Log </a:t>
            </a:r>
            <a:r>
              <a:rPr lang="en-US" altLang="ja-JP" dirty="0" err="1"/>
              <a:t>Softmax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25219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EE35D0-1436-B1E0-0822-335CACCB1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Optimiser</a:t>
            </a:r>
            <a:r>
              <a:rPr kumimoji="1" lang="en-US" altLang="ja-JP" dirty="0"/>
              <a:t> Comparison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1A88A68-9D7E-59D9-C730-272DA5A36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36852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7B0D47-A7D7-5539-5F46-80293CE07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Other ways to mitigate overfitting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47A6AEA-C476-27F1-905F-90747AFA9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Data augmentation</a:t>
            </a:r>
          </a:p>
          <a:p>
            <a:r>
              <a:rPr lang="en-US" altLang="ja-JP" dirty="0" err="1"/>
              <a:t>Regularisation</a:t>
            </a:r>
            <a:r>
              <a:rPr lang="en-US" altLang="ja-JP" dirty="0"/>
              <a:t> </a:t>
            </a:r>
          </a:p>
          <a:p>
            <a:r>
              <a:rPr kumimoji="1" lang="en-US" altLang="ja-JP" dirty="0"/>
              <a:t>Early stopping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71478476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グレースケール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193</TotalTime>
  <Words>257</Words>
  <Application>Microsoft Office PowerPoint</Application>
  <PresentationFormat>ワイド画面</PresentationFormat>
  <Paragraphs>178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4" baseType="lpstr">
      <vt:lpstr>Franklin Gothic Book</vt:lpstr>
      <vt:lpstr>トリミング</vt:lpstr>
      <vt:lpstr>Neural Systems Coursework</vt:lpstr>
      <vt:lpstr>ANN Architecture</vt:lpstr>
      <vt:lpstr>Training Performance</vt:lpstr>
      <vt:lpstr>Implementing Dropout</vt:lpstr>
      <vt:lpstr>Training Improvements</vt:lpstr>
      <vt:lpstr>CNN Architecture</vt:lpstr>
      <vt:lpstr>Overall:</vt:lpstr>
      <vt:lpstr>Performance</vt:lpstr>
      <vt:lpstr>Accuracy Comparison</vt:lpstr>
      <vt:lpstr>Hyperparameters</vt:lpstr>
      <vt:lpstr>Optimiser Comparison</vt:lpstr>
      <vt:lpstr>Other ways to mitigate overfitting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Myles Wheatley</dc:creator>
  <cp:lastModifiedBy>Myles Wheatley</cp:lastModifiedBy>
  <cp:revision>3</cp:revision>
  <dcterms:created xsi:type="dcterms:W3CDTF">2025-10-28T10:16:29Z</dcterms:created>
  <dcterms:modified xsi:type="dcterms:W3CDTF">2025-11-03T15:22:33Z</dcterms:modified>
</cp:coreProperties>
</file>