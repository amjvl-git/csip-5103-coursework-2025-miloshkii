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76" r:id="rId3"/>
    <p:sldId id="277" r:id="rId4"/>
    <p:sldId id="257" r:id="rId5"/>
    <p:sldId id="265" r:id="rId6"/>
    <p:sldId id="259" r:id="rId7"/>
    <p:sldId id="269" r:id="rId8"/>
    <p:sldId id="271" r:id="rId9"/>
    <p:sldId id="270" r:id="rId10"/>
    <p:sldId id="262" r:id="rId11"/>
    <p:sldId id="258" r:id="rId12"/>
    <p:sldId id="267" r:id="rId13"/>
    <p:sldId id="268" r:id="rId14"/>
    <p:sldId id="273" r:id="rId15"/>
    <p:sldId id="272" r:id="rId16"/>
    <p:sldId id="275" r:id="rId17"/>
    <p:sldId id="274" r:id="rId18"/>
    <p:sldId id="278" r:id="rId19"/>
    <p:sldId id="260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5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4A62E54F-74CC-41CA-B59D-BE68632D6B50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7FCF896E-2366-4B6D-8214-F21DB149DB4E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701920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62E54F-74CC-41CA-B59D-BE68632D6B50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F896E-2366-4B6D-8214-F21DB149DB4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93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セクション見出し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A62E54F-74CC-41CA-B59D-BE68632D6B50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FCF896E-2366-4B6D-8214-F21DB149DB4E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15084393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62E54F-74CC-41CA-B59D-BE68632D6B50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F896E-2366-4B6D-8214-F21DB149DB4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08153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62E54F-74CC-41CA-B59D-BE68632D6B50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F896E-2366-4B6D-8214-F21DB149DB4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079909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62E54F-74CC-41CA-B59D-BE68632D6B50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F896E-2366-4B6D-8214-F21DB149DB4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254806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62E54F-74CC-41CA-B59D-BE68632D6B50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F896E-2366-4B6D-8214-F21DB149DB4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056955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A62E54F-74CC-41CA-B59D-BE68632D6B50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FCF896E-2366-4B6D-8214-F21DB149DB4E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0834793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A62E54F-74CC-41CA-B59D-BE68632D6B50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FCF896E-2366-4B6D-8214-F21DB149DB4E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169178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62E54F-74CC-41CA-B59D-BE68632D6B50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F896E-2366-4B6D-8214-F21DB149DB4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661189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62E54F-74CC-41CA-B59D-BE68632D6B50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F896E-2366-4B6D-8214-F21DB149DB4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379447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4A62E54F-74CC-41CA-B59D-BE68632D6B50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7FCF896E-2366-4B6D-8214-F21DB149DB4E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646419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kumimoji="1"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kumimoji="1"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ABA7F3F-D56F-4C06-84AC-03FC83B064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15374B5-D7C8-4AA9-BE65-DB7A0CA9B4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C73A7452-ED0F-4903-A620-8D103E556C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F6A3F6CE-D581-4C37-8822-4F4A68325E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ja-JP" altLang="en-US"/>
            </a:p>
          </p:txBody>
        </p:sp>
      </p:grpSp>
      <p:sp>
        <p:nvSpPr>
          <p:cNvPr id="2" name="タイトル 1">
            <a:extLst>
              <a:ext uri="{FF2B5EF4-FFF2-40B4-BE49-F238E27FC236}">
                <a16:creationId xmlns:a16="http://schemas.microsoft.com/office/drawing/2014/main" id="{D07B75BA-21C4-5E95-8C5A-81E36ECBAB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>
            <a:normAutofit/>
          </a:bodyPr>
          <a:lstStyle/>
          <a:p>
            <a:r>
              <a:rPr kumimoji="1" lang="en-US" altLang="ja-JP" dirty="0"/>
              <a:t>Neural Systems Coursework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520110E-2DCE-8F07-F16A-CA33AA88CD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kumimoji="1" lang="en-US" altLang="ja-JP" dirty="0"/>
              <a:t>Myles Wheatley – P2963116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48559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BB071FB-C5DE-4BE6-FC44-EF4BBD2D9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Objectives</a:t>
            </a:r>
            <a:br>
              <a:rPr kumimoji="1" lang="en-US" altLang="ja-JP" dirty="0"/>
            </a:b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32DA737-4018-2E4F-EC90-C9D6BB4F67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dirty="0"/>
              <a:t>Build a classifier for the Fashion-MNIST Data using both an ANN and CNN.</a:t>
            </a:r>
          </a:p>
          <a:p>
            <a:r>
              <a:rPr lang="en-US" altLang="ja-JP" dirty="0"/>
              <a:t>Implement, train and test the models using </a:t>
            </a:r>
            <a:r>
              <a:rPr lang="en-US" altLang="ja-JP" dirty="0" err="1"/>
              <a:t>PyTorch</a:t>
            </a:r>
            <a:r>
              <a:rPr lang="en-US" altLang="ja-JP" dirty="0"/>
              <a:t>.</a:t>
            </a:r>
          </a:p>
          <a:p>
            <a:r>
              <a:rPr kumimoji="1" lang="en-US" altLang="ja-JP" dirty="0"/>
              <a:t>Consider means of improving basic implementations</a:t>
            </a:r>
          </a:p>
          <a:p>
            <a:r>
              <a:rPr kumimoji="1" lang="en-US" altLang="ja-JP" dirty="0"/>
              <a:t>Evaluate and visualize findings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7328703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05B61B-6A89-0539-1382-69B04E5EB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Fashion MNIST</a:t>
            </a:r>
            <a:endParaRPr kumimoji="1" lang="ja-JP" altLang="en-US" dirty="0"/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8221E8D6-75BA-8248-0818-70EBA8132EB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ja-JP" dirty="0"/>
              <a:t>28x28 Images of 10 Clothing Items</a:t>
            </a:r>
          </a:p>
          <a:p>
            <a:r>
              <a:rPr lang="en-US" altLang="ja-JP" dirty="0"/>
              <a:t>60,000 Training</a:t>
            </a:r>
          </a:p>
          <a:p>
            <a:r>
              <a:rPr lang="en-US" altLang="ja-JP" dirty="0"/>
              <a:t>10,000 Test</a:t>
            </a:r>
          </a:p>
          <a:p>
            <a:r>
              <a:rPr lang="en-US" altLang="ja-JP" dirty="0"/>
              <a:t>10,000 from training for validation</a:t>
            </a:r>
          </a:p>
          <a:p>
            <a:r>
              <a:rPr lang="en-US" altLang="ja-JP" dirty="0"/>
              <a:t>Data is </a:t>
            </a:r>
            <a:r>
              <a:rPr lang="en-US" altLang="ja-JP" dirty="0" err="1"/>
              <a:t>normalised</a:t>
            </a:r>
            <a:r>
              <a:rPr lang="en-US" altLang="ja-JP" dirty="0"/>
              <a:t> using </a:t>
            </a:r>
            <a:r>
              <a:rPr lang="en-US" altLang="ja-JP" dirty="0" err="1"/>
              <a:t>torch.transforms</a:t>
            </a:r>
            <a:r>
              <a:rPr lang="en-US" altLang="ja-JP" dirty="0"/>
              <a:t> module.</a:t>
            </a:r>
            <a:endParaRPr lang="ja-JP" altLang="en-US" dirty="0"/>
          </a:p>
        </p:txBody>
      </p:sp>
      <p:pic>
        <p:nvPicPr>
          <p:cNvPr id="11" name="コンテンツ プレースホルダー 10" descr="ヒストグラム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907B5BDE-29F1-B499-A737-FFD6D68875F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2616" y="1812725"/>
            <a:ext cx="4146297" cy="4359475"/>
          </a:xfrm>
        </p:spPr>
      </p:pic>
    </p:spTree>
    <p:extLst>
      <p:ext uri="{BB962C8B-B14F-4D97-AF65-F5344CB8AC3E}">
        <p14:creationId xmlns:p14="http://schemas.microsoft.com/office/powerpoint/2010/main" val="11293050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F90CED2-72DA-49F5-8068-294F7EEF13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E39B7154-1B52-C5DA-8E68-E30940BDB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kumimoji="1" lang="en-US" altLang="ja-JP" dirty="0"/>
              <a:t>ANN Architecture</a:t>
            </a:r>
            <a:endParaRPr kumimoji="1" lang="en-US" altLang="ja-JP"/>
          </a:p>
        </p:txBody>
      </p:sp>
      <p:graphicFrame>
        <p:nvGraphicFramePr>
          <p:cNvPr id="13" name="コンテンツ プレースホルダー 3">
            <a:extLst>
              <a:ext uri="{FF2B5EF4-FFF2-40B4-BE49-F238E27FC236}">
                <a16:creationId xmlns:a16="http://schemas.microsoft.com/office/drawing/2014/main" id="{97109025-F990-A6B3-9CCB-69DFA8790344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440605440"/>
              </p:ext>
            </p:extLst>
          </p:nvPr>
        </p:nvGraphicFramePr>
        <p:xfrm>
          <a:off x="1434854" y="2286000"/>
          <a:ext cx="9474693" cy="358140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008524">
                  <a:extLst>
                    <a:ext uri="{9D8B030D-6E8A-4147-A177-3AD203B41FA5}">
                      <a16:colId xmlns:a16="http://schemas.microsoft.com/office/drawing/2014/main" val="492625597"/>
                    </a:ext>
                  </a:extLst>
                </a:gridCol>
                <a:gridCol w="2008524">
                  <a:extLst>
                    <a:ext uri="{9D8B030D-6E8A-4147-A177-3AD203B41FA5}">
                      <a16:colId xmlns:a16="http://schemas.microsoft.com/office/drawing/2014/main" val="4176513003"/>
                    </a:ext>
                  </a:extLst>
                </a:gridCol>
                <a:gridCol w="2405315">
                  <a:extLst>
                    <a:ext uri="{9D8B030D-6E8A-4147-A177-3AD203B41FA5}">
                      <a16:colId xmlns:a16="http://schemas.microsoft.com/office/drawing/2014/main" val="1436058226"/>
                    </a:ext>
                  </a:extLst>
                </a:gridCol>
                <a:gridCol w="3052330">
                  <a:extLst>
                    <a:ext uri="{9D8B030D-6E8A-4147-A177-3AD203B41FA5}">
                      <a16:colId xmlns:a16="http://schemas.microsoft.com/office/drawing/2014/main" val="2557779021"/>
                    </a:ext>
                  </a:extLst>
                </a:gridCol>
              </a:tblGrid>
              <a:tr h="511629"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Layer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Type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Size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Activation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extLst>
                  <a:ext uri="{0D108BD9-81ED-4DB2-BD59-A6C34878D82A}">
                    <a16:rowId xmlns:a16="http://schemas.microsoft.com/office/drawing/2014/main" val="564266015"/>
                  </a:ext>
                </a:extLst>
              </a:tr>
              <a:tr h="511629"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Input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Image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28x28x1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-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extLst>
                  <a:ext uri="{0D108BD9-81ED-4DB2-BD59-A6C34878D82A}">
                    <a16:rowId xmlns:a16="http://schemas.microsoft.com/office/drawing/2014/main" val="4045395388"/>
                  </a:ext>
                </a:extLst>
              </a:tr>
              <a:tr h="511629">
                <a:tc>
                  <a:txBody>
                    <a:bodyPr/>
                    <a:lstStyle/>
                    <a:p>
                      <a:r>
                        <a:rPr kumimoji="1" lang="en-US" altLang="ja-JP" sz="2300" dirty="0"/>
                        <a:t>Flatten</a:t>
                      </a:r>
                      <a:endParaRPr kumimoji="1" lang="ja-JP" altLang="en-US" sz="2300" dirty="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Flatten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784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-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extLst>
                  <a:ext uri="{0D108BD9-81ED-4DB2-BD59-A6C34878D82A}">
                    <a16:rowId xmlns:a16="http://schemas.microsoft.com/office/drawing/2014/main" val="3639936735"/>
                  </a:ext>
                </a:extLst>
              </a:tr>
              <a:tr h="511629"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1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Linear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392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 err="1"/>
                        <a:t>ReLU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extLst>
                  <a:ext uri="{0D108BD9-81ED-4DB2-BD59-A6C34878D82A}">
                    <a16:rowId xmlns:a16="http://schemas.microsoft.com/office/drawing/2014/main" val="674952096"/>
                  </a:ext>
                </a:extLst>
              </a:tr>
              <a:tr h="511629"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2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Linear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196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 err="1"/>
                        <a:t>ReLU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extLst>
                  <a:ext uri="{0D108BD9-81ED-4DB2-BD59-A6C34878D82A}">
                    <a16:rowId xmlns:a16="http://schemas.microsoft.com/office/drawing/2014/main" val="2281561552"/>
                  </a:ext>
                </a:extLst>
              </a:tr>
              <a:tr h="511629"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3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Linear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98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 err="1"/>
                        <a:t>ReLU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extLst>
                  <a:ext uri="{0D108BD9-81ED-4DB2-BD59-A6C34878D82A}">
                    <a16:rowId xmlns:a16="http://schemas.microsoft.com/office/drawing/2014/main" val="2169240604"/>
                  </a:ext>
                </a:extLst>
              </a:tr>
              <a:tr h="511629"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Output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Linear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10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 dirty="0"/>
                        <a:t>Log </a:t>
                      </a:r>
                      <a:r>
                        <a:rPr kumimoji="1" lang="en-US" altLang="ja-JP" sz="2300" dirty="0" err="1"/>
                        <a:t>Softmax</a:t>
                      </a:r>
                      <a:endParaRPr kumimoji="1" lang="ja-JP" altLang="en-US" sz="2300" dirty="0"/>
                    </a:p>
                  </a:txBody>
                  <a:tcPr marL="116279" marR="116279" marT="58140" marB="58140"/>
                </a:tc>
                <a:extLst>
                  <a:ext uri="{0D108BD9-81ED-4DB2-BD59-A6C34878D82A}">
                    <a16:rowId xmlns:a16="http://schemas.microsoft.com/office/drawing/2014/main" val="7756115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25114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D6DD5A-7C14-14B2-258E-959C9EB08F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Training Performance</a:t>
            </a:r>
            <a:endParaRPr kumimoji="1" lang="ja-JP" altLang="en-US" dirty="0"/>
          </a:p>
        </p:txBody>
      </p:sp>
      <p:pic>
        <p:nvPicPr>
          <p:cNvPr id="8" name="コンテンツ プレースホルダー 7" descr="グラフ, 折れ線グラフ&#10;&#10;AI 生成コンテンツは誤りを含む可能性があります。">
            <a:extLst>
              <a:ext uri="{FF2B5EF4-FFF2-40B4-BE49-F238E27FC236}">
                <a16:creationId xmlns:a16="http://schemas.microsoft.com/office/drawing/2014/main" id="{418B02B8-3E27-F252-B8EA-A0B4F90136C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2563040"/>
            <a:ext cx="4448175" cy="3027319"/>
          </a:xfrm>
        </p:spPr>
      </p:pic>
      <p:pic>
        <p:nvPicPr>
          <p:cNvPr id="11" name="コンテンツ プレースホルダー 10" descr="テキスト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CAE44F59-C14B-6E2E-CD23-AC403689D5A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2565" y="2286000"/>
            <a:ext cx="4172295" cy="3581400"/>
          </a:xfrm>
        </p:spPr>
      </p:pic>
    </p:spTree>
    <p:extLst>
      <p:ext uri="{BB962C8B-B14F-4D97-AF65-F5344CB8AC3E}">
        <p14:creationId xmlns:p14="http://schemas.microsoft.com/office/powerpoint/2010/main" val="14960603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41E7BD7-4364-FE88-2FAF-4E6857895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>
            <a:normAutofit/>
          </a:bodyPr>
          <a:lstStyle/>
          <a:p>
            <a:r>
              <a:rPr kumimoji="1" lang="en-US" altLang="ja-JP" dirty="0"/>
              <a:t>Implementing Dropout/Batch Norm</a:t>
            </a:r>
            <a:endParaRPr kumimoji="1" lang="ja-JP" altLang="en-US" dirty="0"/>
          </a:p>
        </p:txBody>
      </p:sp>
      <p:graphicFrame>
        <p:nvGraphicFramePr>
          <p:cNvPr id="9" name="コンテンツ プレースホルダー 3">
            <a:extLst>
              <a:ext uri="{FF2B5EF4-FFF2-40B4-BE49-F238E27FC236}">
                <a16:creationId xmlns:a16="http://schemas.microsoft.com/office/drawing/2014/main" id="{8137D65D-99B7-3B9C-FC51-36E3CD7BE5A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08409934"/>
              </p:ext>
            </p:extLst>
          </p:nvPr>
        </p:nvGraphicFramePr>
        <p:xfrm>
          <a:off x="1459649" y="1516380"/>
          <a:ext cx="9425102" cy="46558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81459">
                  <a:extLst>
                    <a:ext uri="{9D8B030D-6E8A-4147-A177-3AD203B41FA5}">
                      <a16:colId xmlns:a16="http://schemas.microsoft.com/office/drawing/2014/main" val="492625597"/>
                    </a:ext>
                  </a:extLst>
                </a:gridCol>
                <a:gridCol w="2176302">
                  <a:extLst>
                    <a:ext uri="{9D8B030D-6E8A-4147-A177-3AD203B41FA5}">
                      <a16:colId xmlns:a16="http://schemas.microsoft.com/office/drawing/2014/main" val="4176513003"/>
                    </a:ext>
                  </a:extLst>
                </a:gridCol>
                <a:gridCol w="2340743">
                  <a:extLst>
                    <a:ext uri="{9D8B030D-6E8A-4147-A177-3AD203B41FA5}">
                      <a16:colId xmlns:a16="http://schemas.microsoft.com/office/drawing/2014/main" val="1436058226"/>
                    </a:ext>
                  </a:extLst>
                </a:gridCol>
                <a:gridCol w="2926598">
                  <a:extLst>
                    <a:ext uri="{9D8B030D-6E8A-4147-A177-3AD203B41FA5}">
                      <a16:colId xmlns:a16="http://schemas.microsoft.com/office/drawing/2014/main" val="2557779021"/>
                    </a:ext>
                  </a:extLst>
                </a:gridCol>
              </a:tblGrid>
              <a:tr h="358140"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Layer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Type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Size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Activation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extLst>
                  <a:ext uri="{0D108BD9-81ED-4DB2-BD59-A6C34878D82A}">
                    <a16:rowId xmlns:a16="http://schemas.microsoft.com/office/drawing/2014/main" val="564266015"/>
                  </a:ext>
                </a:extLst>
              </a:tr>
              <a:tr h="358140"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Input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Image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28x28x1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-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extLst>
                  <a:ext uri="{0D108BD9-81ED-4DB2-BD59-A6C34878D82A}">
                    <a16:rowId xmlns:a16="http://schemas.microsoft.com/office/drawing/2014/main" val="4045395388"/>
                  </a:ext>
                </a:extLst>
              </a:tr>
              <a:tr h="358140"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Flatten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Flatten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784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-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extLst>
                  <a:ext uri="{0D108BD9-81ED-4DB2-BD59-A6C34878D82A}">
                    <a16:rowId xmlns:a16="http://schemas.microsoft.com/office/drawing/2014/main" val="3639936735"/>
                  </a:ext>
                </a:extLst>
              </a:tr>
              <a:tr h="358140"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1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Linear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392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err="1"/>
                        <a:t>ReLU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extLst>
                  <a:ext uri="{0D108BD9-81ED-4DB2-BD59-A6C34878D82A}">
                    <a16:rowId xmlns:a16="http://schemas.microsoft.com/office/drawing/2014/main" val="674952096"/>
                  </a:ext>
                </a:extLst>
              </a:tr>
              <a:tr h="358140">
                <a:tc>
                  <a:txBody>
                    <a:bodyPr/>
                    <a:lstStyle/>
                    <a:p>
                      <a:endParaRPr kumimoji="1" lang="ja-JP" altLang="en-US" sz="1600" dirty="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Batch Norm</a:t>
                      </a:r>
                      <a:endParaRPr kumimoji="1" lang="ja-JP" altLang="en-US" sz="1600" dirty="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-</a:t>
                      </a:r>
                      <a:endParaRPr kumimoji="1" lang="ja-JP" altLang="en-US" sz="1600" dirty="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-</a:t>
                      </a:r>
                      <a:endParaRPr kumimoji="1" lang="ja-JP" altLang="en-US" sz="1600" dirty="0"/>
                    </a:p>
                  </a:txBody>
                  <a:tcPr marL="81395" marR="81395" marT="40698" marB="40698"/>
                </a:tc>
                <a:extLst>
                  <a:ext uri="{0D108BD9-81ED-4DB2-BD59-A6C34878D82A}">
                    <a16:rowId xmlns:a16="http://schemas.microsoft.com/office/drawing/2014/main" val="1975973726"/>
                  </a:ext>
                </a:extLst>
              </a:tr>
              <a:tr h="358140">
                <a:tc>
                  <a:txBody>
                    <a:bodyPr/>
                    <a:lstStyle/>
                    <a:p>
                      <a:endParaRPr kumimoji="1" lang="ja-JP" altLang="en-US" sz="1600" dirty="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Dropout</a:t>
                      </a:r>
                      <a:endParaRPr kumimoji="1" lang="ja-JP" altLang="en-US" sz="1600" dirty="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p=0.2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-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extLst>
                  <a:ext uri="{0D108BD9-81ED-4DB2-BD59-A6C34878D82A}">
                    <a16:rowId xmlns:a16="http://schemas.microsoft.com/office/drawing/2014/main" val="1297855404"/>
                  </a:ext>
                </a:extLst>
              </a:tr>
              <a:tr h="358140"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2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Linear</a:t>
                      </a:r>
                      <a:endParaRPr kumimoji="1" lang="ja-JP" altLang="en-US" sz="1600" dirty="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196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err="1"/>
                        <a:t>ReLU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extLst>
                  <a:ext uri="{0D108BD9-81ED-4DB2-BD59-A6C34878D82A}">
                    <a16:rowId xmlns:a16="http://schemas.microsoft.com/office/drawing/2014/main" val="2281561552"/>
                  </a:ext>
                </a:extLst>
              </a:tr>
              <a:tr h="358140">
                <a:tc>
                  <a:txBody>
                    <a:bodyPr/>
                    <a:lstStyle/>
                    <a:p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Batch Norm</a:t>
                      </a:r>
                      <a:endParaRPr kumimoji="1" lang="ja-JP" altLang="en-US" sz="1600" dirty="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-</a:t>
                      </a:r>
                      <a:endParaRPr kumimoji="1" lang="ja-JP" altLang="en-US" sz="1600" dirty="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-</a:t>
                      </a:r>
                      <a:endParaRPr kumimoji="1" lang="ja-JP" altLang="en-US" sz="1600" dirty="0"/>
                    </a:p>
                  </a:txBody>
                  <a:tcPr marL="81395" marR="81395" marT="40698" marB="40698"/>
                </a:tc>
                <a:extLst>
                  <a:ext uri="{0D108BD9-81ED-4DB2-BD59-A6C34878D82A}">
                    <a16:rowId xmlns:a16="http://schemas.microsoft.com/office/drawing/2014/main" val="3617411736"/>
                  </a:ext>
                </a:extLst>
              </a:tr>
              <a:tr h="358140">
                <a:tc>
                  <a:txBody>
                    <a:bodyPr/>
                    <a:lstStyle/>
                    <a:p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Dropout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p=0.2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-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extLst>
                  <a:ext uri="{0D108BD9-81ED-4DB2-BD59-A6C34878D82A}">
                    <a16:rowId xmlns:a16="http://schemas.microsoft.com/office/drawing/2014/main" val="2091509339"/>
                  </a:ext>
                </a:extLst>
              </a:tr>
              <a:tr h="3581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3</a:t>
                      </a:r>
                      <a:endParaRPr kumimoji="1" lang="ja-JP" altLang="en-US" sz="1600" dirty="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Linear</a:t>
                      </a:r>
                      <a:endParaRPr kumimoji="1" lang="ja-JP" altLang="en-US" sz="1600" dirty="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98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err="1"/>
                        <a:t>ReLU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extLst>
                  <a:ext uri="{0D108BD9-81ED-4DB2-BD59-A6C34878D82A}">
                    <a16:rowId xmlns:a16="http://schemas.microsoft.com/office/drawing/2014/main" val="2169240604"/>
                  </a:ext>
                </a:extLst>
              </a:tr>
              <a:tr h="358140">
                <a:tc>
                  <a:txBody>
                    <a:bodyPr/>
                    <a:lstStyle/>
                    <a:p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Batch Norm</a:t>
                      </a:r>
                      <a:endParaRPr kumimoji="1" lang="ja-JP" altLang="en-US" sz="1600" dirty="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-</a:t>
                      </a:r>
                      <a:endParaRPr kumimoji="1" lang="ja-JP" altLang="en-US" sz="1600" dirty="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-</a:t>
                      </a:r>
                      <a:endParaRPr kumimoji="1" lang="ja-JP" altLang="en-US" sz="1600" dirty="0"/>
                    </a:p>
                  </a:txBody>
                  <a:tcPr marL="81395" marR="81395" marT="40698" marB="40698"/>
                </a:tc>
                <a:extLst>
                  <a:ext uri="{0D108BD9-81ED-4DB2-BD59-A6C34878D82A}">
                    <a16:rowId xmlns:a16="http://schemas.microsoft.com/office/drawing/2014/main" val="2686654432"/>
                  </a:ext>
                </a:extLst>
              </a:tr>
              <a:tr h="358140">
                <a:tc>
                  <a:txBody>
                    <a:bodyPr/>
                    <a:lstStyle/>
                    <a:p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Dropout</a:t>
                      </a:r>
                      <a:endParaRPr kumimoji="1" lang="ja-JP" altLang="en-US" sz="1600" dirty="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p=0.2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-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extLst>
                  <a:ext uri="{0D108BD9-81ED-4DB2-BD59-A6C34878D82A}">
                    <a16:rowId xmlns:a16="http://schemas.microsoft.com/office/drawing/2014/main" val="2639242605"/>
                  </a:ext>
                </a:extLst>
              </a:tr>
              <a:tr h="358140"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Output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Linear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10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Log </a:t>
                      </a:r>
                      <a:r>
                        <a:rPr kumimoji="1" lang="en-US" altLang="ja-JP" sz="1600" dirty="0" err="1"/>
                        <a:t>Softmax</a:t>
                      </a:r>
                      <a:endParaRPr kumimoji="1" lang="ja-JP" altLang="en-US" sz="1600" dirty="0"/>
                    </a:p>
                  </a:txBody>
                  <a:tcPr marL="81395" marR="81395" marT="40698" marB="40698"/>
                </a:tc>
                <a:extLst>
                  <a:ext uri="{0D108BD9-81ED-4DB2-BD59-A6C34878D82A}">
                    <a16:rowId xmlns:a16="http://schemas.microsoft.com/office/drawing/2014/main" val="7756115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045706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102474-9DBE-BD8C-DDF5-1E604BA72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Training </a:t>
            </a:r>
            <a:r>
              <a:rPr lang="en-US" altLang="ja-JP" dirty="0"/>
              <a:t>Improvements</a:t>
            </a:r>
            <a:endParaRPr kumimoji="1" lang="ja-JP" altLang="en-US" dirty="0"/>
          </a:p>
        </p:txBody>
      </p:sp>
      <p:pic>
        <p:nvPicPr>
          <p:cNvPr id="8" name="コンテンツ プレースホルダー 7" descr="グラフ, 折れ線グラフ&#10;&#10;AI 生成コンテンツは誤りを含む可能性があります。">
            <a:extLst>
              <a:ext uri="{FF2B5EF4-FFF2-40B4-BE49-F238E27FC236}">
                <a16:creationId xmlns:a16="http://schemas.microsoft.com/office/drawing/2014/main" id="{02C04522-BD49-B389-1038-1BCFFF8B689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2580266"/>
            <a:ext cx="4448175" cy="2992868"/>
          </a:xfrm>
        </p:spPr>
      </p:pic>
      <p:pic>
        <p:nvPicPr>
          <p:cNvPr id="11" name="コンテンツ プレースホルダー 10" descr="テキスト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A70369B3-C729-B03E-50DF-BD68473401F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2565" y="2286000"/>
            <a:ext cx="4172295" cy="3581400"/>
          </a:xfrm>
        </p:spPr>
      </p:pic>
    </p:spTree>
    <p:extLst>
      <p:ext uri="{BB962C8B-B14F-4D97-AF65-F5344CB8AC3E}">
        <p14:creationId xmlns:p14="http://schemas.microsoft.com/office/powerpoint/2010/main" val="26811671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21497F77-C7AB-F9D8-0D06-0D05C4F56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Example Prediction</a:t>
            </a:r>
            <a:endParaRPr lang="ja-JP" altLang="en-US" dirty="0"/>
          </a:p>
        </p:txBody>
      </p:sp>
      <p:pic>
        <p:nvPicPr>
          <p:cNvPr id="8" name="コンテンツ プレースホルダー 7" descr="グラフ, ヒストグラム&#10;&#10;AI 生成コンテンツは誤りを含む可能性があります。">
            <a:extLst>
              <a:ext uri="{FF2B5EF4-FFF2-40B4-BE49-F238E27FC236}">
                <a16:creationId xmlns:a16="http://schemas.microsoft.com/office/drawing/2014/main" id="{4BF1FFAE-005B-B8C0-08F4-09EDCB47AE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8814" y="1497106"/>
            <a:ext cx="8906771" cy="4191000"/>
          </a:xfrm>
        </p:spPr>
      </p:pic>
    </p:spTree>
    <p:extLst>
      <p:ext uri="{BB962C8B-B14F-4D97-AF65-F5344CB8AC3E}">
        <p14:creationId xmlns:p14="http://schemas.microsoft.com/office/powerpoint/2010/main" val="19165101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6EE35D0-1436-B1E0-0822-335CACCB1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Optimiser</a:t>
            </a:r>
            <a:r>
              <a:rPr kumimoji="1" lang="en-US" altLang="ja-JP" dirty="0"/>
              <a:t> Comparison</a:t>
            </a:r>
            <a:endParaRPr kumimoji="1" lang="ja-JP" altLang="en-US" dirty="0"/>
          </a:p>
        </p:txBody>
      </p:sp>
      <p:pic>
        <p:nvPicPr>
          <p:cNvPr id="7" name="コンテンツ プレースホルダー 6" descr="グラフィカル ユーザー インターフェイス, グラフ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33712B70-7A5B-FDD2-3982-ADE4D5264E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564" y="1837452"/>
            <a:ext cx="10724438" cy="2671795"/>
          </a:xfrm>
        </p:spPr>
      </p:pic>
    </p:spTree>
    <p:extLst>
      <p:ext uri="{BB962C8B-B14F-4D97-AF65-F5344CB8AC3E}">
        <p14:creationId xmlns:p14="http://schemas.microsoft.com/office/powerpoint/2010/main" val="9368523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0D3DF80-F0DA-1556-353B-295C73F06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Accuracy Comparison</a:t>
            </a:r>
            <a:endParaRPr kumimoji="1" lang="ja-JP" altLang="en-US" dirty="0"/>
          </a:p>
        </p:txBody>
      </p:sp>
      <p:pic>
        <p:nvPicPr>
          <p:cNvPr id="8" name="コンテンツ プレースホルダー 7" descr="グラフ, 棒グラフ&#10;&#10;AI 生成コンテンツは誤りを含む可能性があります。">
            <a:extLst>
              <a:ext uri="{FF2B5EF4-FFF2-40B4-BE49-F238E27FC236}">
                <a16:creationId xmlns:a16="http://schemas.microsoft.com/office/drawing/2014/main" id="{8929655F-A14A-D361-339E-6F6AD41309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5351" y="1714192"/>
            <a:ext cx="5521297" cy="4458008"/>
          </a:xfrm>
        </p:spPr>
      </p:pic>
    </p:spTree>
    <p:extLst>
      <p:ext uri="{BB962C8B-B14F-4D97-AF65-F5344CB8AC3E}">
        <p14:creationId xmlns:p14="http://schemas.microsoft.com/office/powerpoint/2010/main" val="28747623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FECE46C-FFB3-8185-6EF7-17A41D69E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CNN Architecture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9B8552C-13F0-A9BE-12FB-4E1E4C3937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dirty="0"/>
              <a:t>4 convolution layers with 2 max pool layers.</a:t>
            </a:r>
          </a:p>
          <a:p>
            <a:r>
              <a:rPr kumimoji="1" lang="en-US" altLang="ja-JP" dirty="0"/>
              <a:t>3 Dense layers after flattening the output of the convolution layers.</a:t>
            </a:r>
            <a:endParaRPr kumimoji="1" lang="ja-JP" altLang="en-US" dirty="0"/>
          </a:p>
        </p:txBody>
      </p:sp>
      <p:pic>
        <p:nvPicPr>
          <p:cNvPr id="6" name="図 5" descr="衛星のcg&#10;&#10;AI 生成コンテンツは誤りを含む可能性があります。">
            <a:extLst>
              <a:ext uri="{FF2B5EF4-FFF2-40B4-BE49-F238E27FC236}">
                <a16:creationId xmlns:a16="http://schemas.microsoft.com/office/drawing/2014/main" id="{FCFF616B-7A3E-6256-335D-18312FEE90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0293" y="3568263"/>
            <a:ext cx="9083813" cy="2413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7716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コンテンツ プレースホルダー 3">
            <a:extLst>
              <a:ext uri="{FF2B5EF4-FFF2-40B4-BE49-F238E27FC236}">
                <a16:creationId xmlns:a16="http://schemas.microsoft.com/office/drawing/2014/main" id="{C8302839-D377-4C15-5136-B62C86C30E8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89553681"/>
              </p:ext>
            </p:extLst>
          </p:nvPr>
        </p:nvGraphicFramePr>
        <p:xfrm>
          <a:off x="1275794" y="224117"/>
          <a:ext cx="9640412" cy="6261816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142219">
                  <a:extLst>
                    <a:ext uri="{9D8B030D-6E8A-4147-A177-3AD203B41FA5}">
                      <a16:colId xmlns:a16="http://schemas.microsoft.com/office/drawing/2014/main" val="1879966933"/>
                    </a:ext>
                  </a:extLst>
                </a:gridCol>
                <a:gridCol w="1219548">
                  <a:extLst>
                    <a:ext uri="{9D8B030D-6E8A-4147-A177-3AD203B41FA5}">
                      <a16:colId xmlns:a16="http://schemas.microsoft.com/office/drawing/2014/main" val="1963412920"/>
                    </a:ext>
                  </a:extLst>
                </a:gridCol>
                <a:gridCol w="1345896">
                  <a:extLst>
                    <a:ext uri="{9D8B030D-6E8A-4147-A177-3AD203B41FA5}">
                      <a16:colId xmlns:a16="http://schemas.microsoft.com/office/drawing/2014/main" val="1574051892"/>
                    </a:ext>
                  </a:extLst>
                </a:gridCol>
                <a:gridCol w="1142219">
                  <a:extLst>
                    <a:ext uri="{9D8B030D-6E8A-4147-A177-3AD203B41FA5}">
                      <a16:colId xmlns:a16="http://schemas.microsoft.com/office/drawing/2014/main" val="4030585622"/>
                    </a:ext>
                  </a:extLst>
                </a:gridCol>
                <a:gridCol w="1158657">
                  <a:extLst>
                    <a:ext uri="{9D8B030D-6E8A-4147-A177-3AD203B41FA5}">
                      <a16:colId xmlns:a16="http://schemas.microsoft.com/office/drawing/2014/main" val="3712970586"/>
                    </a:ext>
                  </a:extLst>
                </a:gridCol>
                <a:gridCol w="1142219">
                  <a:extLst>
                    <a:ext uri="{9D8B030D-6E8A-4147-A177-3AD203B41FA5}">
                      <a16:colId xmlns:a16="http://schemas.microsoft.com/office/drawing/2014/main" val="1158452690"/>
                    </a:ext>
                  </a:extLst>
                </a:gridCol>
                <a:gridCol w="1244827">
                  <a:extLst>
                    <a:ext uri="{9D8B030D-6E8A-4147-A177-3AD203B41FA5}">
                      <a16:colId xmlns:a16="http://schemas.microsoft.com/office/drawing/2014/main" val="3127629139"/>
                    </a:ext>
                  </a:extLst>
                </a:gridCol>
                <a:gridCol w="1244827">
                  <a:extLst>
                    <a:ext uri="{9D8B030D-6E8A-4147-A177-3AD203B41FA5}">
                      <a16:colId xmlns:a16="http://schemas.microsoft.com/office/drawing/2014/main" val="3634120696"/>
                    </a:ext>
                  </a:extLst>
                </a:gridCol>
              </a:tblGrid>
              <a:tr h="260452">
                <a:tc gridSpan="2">
                  <a:txBody>
                    <a:bodyPr/>
                    <a:lstStyle/>
                    <a:p>
                      <a:r>
                        <a:rPr kumimoji="1" lang="en-US" altLang="ja-JP" sz="1100" dirty="0"/>
                        <a:t>Layer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 h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Feature Maps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Size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Kernel Size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Stride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Padding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Activation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3954135237"/>
                  </a:ext>
                </a:extLst>
              </a:tr>
              <a:tr h="260452"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Input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Image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1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28x28x1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548919792"/>
                  </a:ext>
                </a:extLst>
              </a:tr>
              <a:tr h="260452"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1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Convolution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128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28x28x128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3x3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(1,1)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(1,1)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ReLU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3886249736"/>
                  </a:ext>
                </a:extLst>
              </a:tr>
              <a:tr h="260452">
                <a:tc>
                  <a:txBody>
                    <a:bodyPr/>
                    <a:lstStyle/>
                    <a:p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Batch Norm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1438644074"/>
                  </a:ext>
                </a:extLst>
              </a:tr>
              <a:tr h="260452">
                <a:tc>
                  <a:txBody>
                    <a:bodyPr/>
                    <a:lstStyle/>
                    <a:p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Dropout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p=0.2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2074372515"/>
                  </a:ext>
                </a:extLst>
              </a:tr>
              <a:tr h="319084"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2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Convolution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128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28x28x128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3x3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(1,1)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100" dirty="0"/>
                        <a:t>(1,1)</a:t>
                      </a:r>
                      <a:endParaRPr kumimoji="1" lang="ja-JP" altLang="en-US" sz="1100" dirty="0"/>
                    </a:p>
                    <a:p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ReLU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3027534296"/>
                  </a:ext>
                </a:extLst>
              </a:tr>
              <a:tr h="260452">
                <a:tc>
                  <a:txBody>
                    <a:bodyPr/>
                    <a:lstStyle/>
                    <a:p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Batch Norm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1086479170"/>
                  </a:ext>
                </a:extLst>
              </a:tr>
              <a:tr h="260452">
                <a:tc>
                  <a:txBody>
                    <a:bodyPr/>
                    <a:lstStyle/>
                    <a:p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Dropout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p=0.2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3044542290"/>
                  </a:ext>
                </a:extLst>
              </a:tr>
              <a:tr h="260452">
                <a:tc>
                  <a:txBody>
                    <a:bodyPr/>
                    <a:lstStyle/>
                    <a:p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Max Pooling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14x14x128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2x2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(2,2)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None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244308664"/>
                  </a:ext>
                </a:extLst>
              </a:tr>
              <a:tr h="319084"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3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Convolution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256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14x14x256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3x3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(1,1)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100" dirty="0"/>
                        <a:t>(1,1)</a:t>
                      </a:r>
                      <a:endParaRPr kumimoji="1" lang="ja-JP" altLang="en-US" sz="1100" dirty="0"/>
                    </a:p>
                    <a:p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 err="1"/>
                        <a:t>ReLU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966646218"/>
                  </a:ext>
                </a:extLst>
              </a:tr>
              <a:tr h="260452">
                <a:tc>
                  <a:txBody>
                    <a:bodyPr/>
                    <a:lstStyle/>
                    <a:p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Batch Norm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3628787913"/>
                  </a:ext>
                </a:extLst>
              </a:tr>
              <a:tr h="260452">
                <a:tc>
                  <a:txBody>
                    <a:bodyPr/>
                    <a:lstStyle/>
                    <a:p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Dropout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p=0.2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2630882414"/>
                  </a:ext>
                </a:extLst>
              </a:tr>
              <a:tr h="319084"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4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Convolution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256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14x14x256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3x3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(1,1)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100" dirty="0"/>
                        <a:t>(1,1)</a:t>
                      </a:r>
                      <a:endParaRPr kumimoji="1" lang="ja-JP" altLang="en-US" sz="1100" dirty="0"/>
                    </a:p>
                    <a:p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ReLU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2499623719"/>
                  </a:ext>
                </a:extLst>
              </a:tr>
              <a:tr h="260452">
                <a:tc>
                  <a:txBody>
                    <a:bodyPr/>
                    <a:lstStyle/>
                    <a:p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Batch Norm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2702084554"/>
                  </a:ext>
                </a:extLst>
              </a:tr>
              <a:tr h="260452">
                <a:tc>
                  <a:txBody>
                    <a:bodyPr/>
                    <a:lstStyle/>
                    <a:p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Dropout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p=0.2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595810492"/>
                  </a:ext>
                </a:extLst>
              </a:tr>
              <a:tr h="319084">
                <a:tc>
                  <a:txBody>
                    <a:bodyPr/>
                    <a:lstStyle/>
                    <a:p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Global Average Pool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1x256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2x2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(2,2)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None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2615999554"/>
                  </a:ext>
                </a:extLst>
              </a:tr>
              <a:tr h="260452">
                <a:tc>
                  <a:txBody>
                    <a:bodyPr/>
                    <a:lstStyle/>
                    <a:p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Flatten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256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1776601208"/>
                  </a:ext>
                </a:extLst>
              </a:tr>
              <a:tr h="260452"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5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Linear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128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ReLU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2728840207"/>
                  </a:ext>
                </a:extLst>
              </a:tr>
              <a:tr h="260452">
                <a:tc>
                  <a:txBody>
                    <a:bodyPr/>
                    <a:lstStyle/>
                    <a:p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Dropout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p=0.2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2386799453"/>
                  </a:ext>
                </a:extLst>
              </a:tr>
              <a:tr h="260452"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6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Linear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64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ReLU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4058937682"/>
                  </a:ext>
                </a:extLst>
              </a:tr>
              <a:tr h="260452">
                <a:tc>
                  <a:txBody>
                    <a:bodyPr/>
                    <a:lstStyle/>
                    <a:p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Dropout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p=0.2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2936755122"/>
                  </a:ext>
                </a:extLst>
              </a:tr>
              <a:tr h="260452"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Output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Linear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10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-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Log </a:t>
                      </a:r>
                      <a:r>
                        <a:rPr kumimoji="1" lang="en-US" altLang="ja-JP" sz="1100" dirty="0" err="1"/>
                        <a:t>Softmax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33440116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0357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2AFB445-6F04-B5E1-A6F4-012DD571D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Performance</a:t>
            </a:r>
            <a:endParaRPr kumimoji="1" lang="ja-JP" altLang="en-US" dirty="0"/>
          </a:p>
        </p:txBody>
      </p:sp>
      <p:pic>
        <p:nvPicPr>
          <p:cNvPr id="8" name="コンテンツ プレースホルダー 7" descr="グラフ, 折れ線グラフ&#10;&#10;AI 生成コンテンツは誤りを含む可能性があります。">
            <a:extLst>
              <a:ext uri="{FF2B5EF4-FFF2-40B4-BE49-F238E27FC236}">
                <a16:creationId xmlns:a16="http://schemas.microsoft.com/office/drawing/2014/main" id="{687AEE34-E97F-DA16-B825-A162EE89EB5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2563040"/>
            <a:ext cx="4448175" cy="3027319"/>
          </a:xfrm>
        </p:spPr>
      </p:pic>
      <p:pic>
        <p:nvPicPr>
          <p:cNvPr id="11" name="コンテンツ プレースホルダー 10" descr="テキスト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572290CE-6BC3-875A-B885-5B242E21B57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2565" y="2286000"/>
            <a:ext cx="4172295" cy="3581400"/>
          </a:xfrm>
        </p:spPr>
      </p:pic>
    </p:spTree>
    <p:extLst>
      <p:ext uri="{BB962C8B-B14F-4D97-AF65-F5344CB8AC3E}">
        <p14:creationId xmlns:p14="http://schemas.microsoft.com/office/powerpoint/2010/main" val="6009510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CA8F94-1459-7625-9002-51027F697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pic>
        <p:nvPicPr>
          <p:cNvPr id="6" name="コンテンツ プレースホルダー 5" descr="テーブル&#10;&#10;AI 生成コンテンツは誤りを含む可能性があります。">
            <a:extLst>
              <a:ext uri="{FF2B5EF4-FFF2-40B4-BE49-F238E27FC236}">
                <a16:creationId xmlns:a16="http://schemas.microsoft.com/office/drawing/2014/main" id="{8DC28982-5887-4B19-47C1-C2F14F8CC8B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284" y="317733"/>
            <a:ext cx="5262517" cy="6222533"/>
          </a:xfrm>
        </p:spPr>
      </p:pic>
      <p:pic>
        <p:nvPicPr>
          <p:cNvPr id="8" name="コンテンツ プレースホルダー 7" descr="建物, アパート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24140B67-0CA8-AA1B-1F8F-D1C329C22DC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317734"/>
            <a:ext cx="5262517" cy="6222532"/>
          </a:xfrm>
        </p:spPr>
      </p:pic>
    </p:spTree>
    <p:extLst>
      <p:ext uri="{BB962C8B-B14F-4D97-AF65-F5344CB8AC3E}">
        <p14:creationId xmlns:p14="http://schemas.microsoft.com/office/powerpoint/2010/main" val="27677172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A2D4F4F-E161-3D91-74DE-4B87B7A74D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Data Augmentation</a:t>
            </a:r>
            <a:br>
              <a:rPr kumimoji="1" lang="en-US" altLang="ja-JP" dirty="0"/>
            </a:br>
            <a:endParaRPr kumimoji="1" lang="ja-JP" altLang="en-US" dirty="0"/>
          </a:p>
        </p:txBody>
      </p:sp>
      <p:pic>
        <p:nvPicPr>
          <p:cNvPr id="5" name="コンテンツ プレースホルダー 4" descr="テキスト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C9EA4682-6153-B240-DFAF-2F74B9B1A5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9295" y="1453101"/>
            <a:ext cx="8953409" cy="4719099"/>
          </a:xfrm>
        </p:spPr>
      </p:pic>
    </p:spTree>
    <p:extLst>
      <p:ext uri="{BB962C8B-B14F-4D97-AF65-F5344CB8AC3E}">
        <p14:creationId xmlns:p14="http://schemas.microsoft.com/office/powerpoint/2010/main" val="24709420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C095E2-014A-E3F8-EBB0-5F2E94242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Impact on training</a:t>
            </a:r>
            <a:endParaRPr kumimoji="1" lang="ja-JP" altLang="en-US" dirty="0"/>
          </a:p>
        </p:txBody>
      </p:sp>
      <p:pic>
        <p:nvPicPr>
          <p:cNvPr id="7" name="コンテンツ プレースホルダー 6" descr="グラフ, 折れ線グラフ&#10;&#10;AI 生成コンテンツは誤りを含む可能性があります。">
            <a:extLst>
              <a:ext uri="{FF2B5EF4-FFF2-40B4-BE49-F238E27FC236}">
                <a16:creationId xmlns:a16="http://schemas.microsoft.com/office/drawing/2014/main" id="{1707BFEA-C94E-FEBC-BD4C-8A3CA0C4517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1551" y="2029834"/>
            <a:ext cx="4781550" cy="3826915"/>
          </a:xfrm>
        </p:spPr>
      </p:pic>
      <p:pic>
        <p:nvPicPr>
          <p:cNvPr id="9" name="コンテンツ プレースホルダー 8" descr="グラフ, ヒストグラム&#10;&#10;AI 生成コンテンツは誤りを含む可能性があります。">
            <a:extLst>
              <a:ext uri="{FF2B5EF4-FFF2-40B4-BE49-F238E27FC236}">
                <a16:creationId xmlns:a16="http://schemas.microsoft.com/office/drawing/2014/main" id="{E98B4F4F-2370-9E99-02A5-ECDE7415C93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4075" y="2029834"/>
            <a:ext cx="5623057" cy="3826915"/>
          </a:xfrm>
        </p:spPr>
      </p:pic>
    </p:spTree>
    <p:extLst>
      <p:ext uri="{BB962C8B-B14F-4D97-AF65-F5344CB8AC3E}">
        <p14:creationId xmlns:p14="http://schemas.microsoft.com/office/powerpoint/2010/main" val="41011924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22270A88-9495-0AE4-4D90-D0ED67B40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Metric Comparison</a:t>
            </a:r>
            <a:endParaRPr lang="ja-JP" altLang="en-US" dirty="0"/>
          </a:p>
        </p:txBody>
      </p:sp>
      <p:pic>
        <p:nvPicPr>
          <p:cNvPr id="8" name="コンテンツ プレースホルダー 7" descr="グラフ, 棒グラフ&#10;&#10;AI 生成コンテンツは誤りを含む可能性があります。">
            <a:extLst>
              <a:ext uri="{FF2B5EF4-FFF2-40B4-BE49-F238E27FC236}">
                <a16:creationId xmlns:a16="http://schemas.microsoft.com/office/drawing/2014/main" id="{282851AD-7CFF-5A8B-6217-D58574C408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2335524"/>
            <a:ext cx="9601200" cy="3482351"/>
          </a:xfrm>
        </p:spPr>
      </p:pic>
    </p:spTree>
    <p:extLst>
      <p:ext uri="{BB962C8B-B14F-4D97-AF65-F5344CB8AC3E}">
        <p14:creationId xmlns:p14="http://schemas.microsoft.com/office/powerpoint/2010/main" val="11259881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28C4C8-7992-B3C0-8750-0543482B96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470647"/>
            <a:ext cx="9601200" cy="730624"/>
          </a:xfrm>
        </p:spPr>
        <p:txBody>
          <a:bodyPr/>
          <a:lstStyle/>
          <a:p>
            <a:r>
              <a:rPr kumimoji="1" lang="en-US" altLang="ja-JP" dirty="0"/>
              <a:t>Summary of Data</a:t>
            </a:r>
            <a:endParaRPr kumimoji="1" lang="ja-JP" altLang="en-US" dirty="0"/>
          </a:p>
        </p:txBody>
      </p:sp>
      <p:graphicFrame>
        <p:nvGraphicFramePr>
          <p:cNvPr id="4" name="コンテンツ プレースホルダー 3">
            <a:extLst>
              <a:ext uri="{FF2B5EF4-FFF2-40B4-BE49-F238E27FC236}">
                <a16:creationId xmlns:a16="http://schemas.microsoft.com/office/drawing/2014/main" id="{520B5F70-9903-4257-1C8A-231C31E268C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29262247"/>
              </p:ext>
            </p:extLst>
          </p:nvPr>
        </p:nvGraphicFramePr>
        <p:xfrm>
          <a:off x="1165413" y="1488142"/>
          <a:ext cx="9861173" cy="4715136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408739">
                  <a:extLst>
                    <a:ext uri="{9D8B030D-6E8A-4147-A177-3AD203B41FA5}">
                      <a16:colId xmlns:a16="http://schemas.microsoft.com/office/drawing/2014/main" val="1664513231"/>
                    </a:ext>
                  </a:extLst>
                </a:gridCol>
                <a:gridCol w="1408739">
                  <a:extLst>
                    <a:ext uri="{9D8B030D-6E8A-4147-A177-3AD203B41FA5}">
                      <a16:colId xmlns:a16="http://schemas.microsoft.com/office/drawing/2014/main" val="4220586003"/>
                    </a:ext>
                  </a:extLst>
                </a:gridCol>
                <a:gridCol w="1408739">
                  <a:extLst>
                    <a:ext uri="{9D8B030D-6E8A-4147-A177-3AD203B41FA5}">
                      <a16:colId xmlns:a16="http://schemas.microsoft.com/office/drawing/2014/main" val="2285358249"/>
                    </a:ext>
                  </a:extLst>
                </a:gridCol>
                <a:gridCol w="1408739">
                  <a:extLst>
                    <a:ext uri="{9D8B030D-6E8A-4147-A177-3AD203B41FA5}">
                      <a16:colId xmlns:a16="http://schemas.microsoft.com/office/drawing/2014/main" val="1702465008"/>
                    </a:ext>
                  </a:extLst>
                </a:gridCol>
                <a:gridCol w="1408739">
                  <a:extLst>
                    <a:ext uri="{9D8B030D-6E8A-4147-A177-3AD203B41FA5}">
                      <a16:colId xmlns:a16="http://schemas.microsoft.com/office/drawing/2014/main" val="3475215790"/>
                    </a:ext>
                  </a:extLst>
                </a:gridCol>
                <a:gridCol w="1408739">
                  <a:extLst>
                    <a:ext uri="{9D8B030D-6E8A-4147-A177-3AD203B41FA5}">
                      <a16:colId xmlns:a16="http://schemas.microsoft.com/office/drawing/2014/main" val="2378317175"/>
                    </a:ext>
                  </a:extLst>
                </a:gridCol>
                <a:gridCol w="1408739">
                  <a:extLst>
                    <a:ext uri="{9D8B030D-6E8A-4147-A177-3AD203B41FA5}">
                      <a16:colId xmlns:a16="http://schemas.microsoft.com/office/drawing/2014/main" val="3334317590"/>
                    </a:ext>
                  </a:extLst>
                </a:gridCol>
              </a:tblGrid>
              <a:tr h="784818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Model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Training Time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Accuracy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Precision (mean)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Recall (mean)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F1 Score (mean)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Epochs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136991"/>
                  </a:ext>
                </a:extLst>
              </a:tr>
              <a:tr h="784818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ANN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4.5  minutes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88.43%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0.891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0.890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0.888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6964274"/>
                  </a:ext>
                </a:extLst>
              </a:tr>
              <a:tr h="784818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ANN (modified)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5 minutes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89.94%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0.901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0.901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0.901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4558481"/>
                  </a:ext>
                </a:extLst>
              </a:tr>
              <a:tr h="1121168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ANN (</a:t>
                      </a:r>
                      <a:r>
                        <a:rPr kumimoji="1" lang="en-US" altLang="ja-JP" dirty="0" err="1"/>
                        <a:t>modified+data</a:t>
                      </a:r>
                      <a:r>
                        <a:rPr kumimoji="1" lang="en-US" altLang="ja-JP" dirty="0"/>
                        <a:t> </a:t>
                      </a:r>
                      <a:r>
                        <a:rPr kumimoji="1" lang="en-US" altLang="ja-JP" dirty="0" err="1"/>
                        <a:t>aug</a:t>
                      </a:r>
                      <a:r>
                        <a:rPr kumimoji="1" lang="en-US" altLang="ja-JP" dirty="0"/>
                        <a:t>)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14 minutes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87.05%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0.872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0.871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0.870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60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1359586"/>
                  </a:ext>
                </a:extLst>
              </a:tr>
              <a:tr h="454696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CNN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9 minutes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92.39%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0.926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0.926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0.926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775239"/>
                  </a:ext>
                </a:extLst>
              </a:tr>
              <a:tr h="784818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CNN (data </a:t>
                      </a:r>
                      <a:r>
                        <a:rPr kumimoji="1" lang="en-US" altLang="ja-JP" dirty="0" err="1"/>
                        <a:t>aug</a:t>
                      </a:r>
                      <a:r>
                        <a:rPr kumimoji="1" lang="en-US" altLang="ja-JP" dirty="0"/>
                        <a:t>)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20 minutes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91.42%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0.917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0.916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0.916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60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20009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497256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B7B0D47-A7D7-5539-5F46-80293CE074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Other ways to mitigate overfitting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47A6AEA-C476-27F1-905F-90747AFA9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dirty="0"/>
              <a:t>Gradient clipping </a:t>
            </a:r>
          </a:p>
          <a:p>
            <a:r>
              <a:rPr kumimoji="1" lang="en-US" altLang="ja-JP" dirty="0"/>
              <a:t>Early stopping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71478476"/>
      </p:ext>
    </p:extLst>
  </p:cSld>
  <p:clrMapOvr>
    <a:masterClrMapping/>
  </p:clrMapOvr>
</p:sld>
</file>

<file path=ppt/theme/theme1.xml><?xml version="1.0" encoding="utf-8"?>
<a:theme xmlns:a="http://schemas.openxmlformats.org/drawingml/2006/main" name="トリミング">
  <a:themeElements>
    <a:clrScheme name="グレースケール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トリミング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トリミング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TM10001105[[fn=トリミング]]</Template>
  <TotalTime>267</TotalTime>
  <Words>495</Words>
  <Application>Microsoft Office PowerPoint</Application>
  <PresentationFormat>ワイド画面</PresentationFormat>
  <Paragraphs>309</Paragraphs>
  <Slides>19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19</vt:i4>
      </vt:variant>
    </vt:vector>
  </HeadingPairs>
  <TitlesOfParts>
    <vt:vector size="21" baseType="lpstr">
      <vt:lpstr>Franklin Gothic Book</vt:lpstr>
      <vt:lpstr>トリミング</vt:lpstr>
      <vt:lpstr>Neural Systems Coursework</vt:lpstr>
      <vt:lpstr>Objectives </vt:lpstr>
      <vt:lpstr>Fashion MNIST</vt:lpstr>
      <vt:lpstr>ANN Architecture</vt:lpstr>
      <vt:lpstr>Training Performance</vt:lpstr>
      <vt:lpstr>Implementing Dropout/Batch Norm</vt:lpstr>
      <vt:lpstr>Training Improvements</vt:lpstr>
      <vt:lpstr>Example Prediction</vt:lpstr>
      <vt:lpstr>Optimiser Comparison</vt:lpstr>
      <vt:lpstr>Accuracy Comparison</vt:lpstr>
      <vt:lpstr>CNN Architecture</vt:lpstr>
      <vt:lpstr>PowerPoint プレゼンテーション</vt:lpstr>
      <vt:lpstr>Performance</vt:lpstr>
      <vt:lpstr>PowerPoint プレゼンテーション</vt:lpstr>
      <vt:lpstr>Data Augmentation </vt:lpstr>
      <vt:lpstr>Impact on training</vt:lpstr>
      <vt:lpstr>Metric Comparison</vt:lpstr>
      <vt:lpstr>Summary of Data</vt:lpstr>
      <vt:lpstr>Other ways to mitigate overfitting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Myles Wheatley</dc:creator>
  <cp:lastModifiedBy>Myles Wheatley</cp:lastModifiedBy>
  <cp:revision>7</cp:revision>
  <dcterms:created xsi:type="dcterms:W3CDTF">2025-10-28T10:16:29Z</dcterms:created>
  <dcterms:modified xsi:type="dcterms:W3CDTF">2025-11-04T16:38:30Z</dcterms:modified>
</cp:coreProperties>
</file>