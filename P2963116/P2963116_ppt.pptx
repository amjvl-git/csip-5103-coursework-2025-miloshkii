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9" r:id="rId5"/>
    <p:sldId id="269" r:id="rId6"/>
    <p:sldId id="271" r:id="rId7"/>
    <p:sldId id="270" r:id="rId8"/>
    <p:sldId id="262" r:id="rId9"/>
    <p:sldId id="272" r:id="rId10"/>
    <p:sldId id="275" r:id="rId11"/>
    <p:sldId id="258" r:id="rId12"/>
    <p:sldId id="267" r:id="rId13"/>
    <p:sldId id="268" r:id="rId14"/>
    <p:sldId id="273" r:id="rId15"/>
    <p:sldId id="274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192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08439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815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799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48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69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347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91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611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794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A62E54F-74CC-41CA-B59D-BE68632D6B50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FCF896E-2366-4B6D-8214-F21DB149DB4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6464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kumimoji="1"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kumimoji="1"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BA7F3F-D56F-4C06-84AC-03FC83B06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5374B5-D7C8-4AA9-BE65-DB7A0CA9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C73A7452-ED0F-4903-A620-8D103E556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6A3F6CE-D581-4C37-8822-4F4A68325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D07B75BA-21C4-5E95-8C5A-81E36ECBA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Neural Systems Coursework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20110E-2DCE-8F07-F16A-CA33AA88C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 dirty="0"/>
              <a:t>Myles Wheatley – P2963116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4855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9B7154-1B52-C5DA-8E68-E30940BD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ja-JP" dirty="0"/>
              <a:t>ANN Architecture</a:t>
            </a:r>
            <a:endParaRPr kumimoji="1" lang="en-US" altLang="ja-JP"/>
          </a:p>
        </p:txBody>
      </p:sp>
      <p:graphicFrame>
        <p:nvGraphicFramePr>
          <p:cNvPr id="13" name="コンテンツ プレースホルダー 3">
            <a:extLst>
              <a:ext uri="{FF2B5EF4-FFF2-40B4-BE49-F238E27FC236}">
                <a16:creationId xmlns:a16="http://schemas.microsoft.com/office/drawing/2014/main" id="{97109025-F990-A6B3-9CCB-69DFA879034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40605440"/>
              </p:ext>
            </p:extLst>
          </p:nvPr>
        </p:nvGraphicFramePr>
        <p:xfrm>
          <a:off x="1434854" y="2286000"/>
          <a:ext cx="9474693" cy="35814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08524">
                  <a:extLst>
                    <a:ext uri="{9D8B030D-6E8A-4147-A177-3AD203B41FA5}">
                      <a16:colId xmlns:a16="http://schemas.microsoft.com/office/drawing/2014/main" val="492625597"/>
                    </a:ext>
                  </a:extLst>
                </a:gridCol>
                <a:gridCol w="2008524">
                  <a:extLst>
                    <a:ext uri="{9D8B030D-6E8A-4147-A177-3AD203B41FA5}">
                      <a16:colId xmlns:a16="http://schemas.microsoft.com/office/drawing/2014/main" val="4176513003"/>
                    </a:ext>
                  </a:extLst>
                </a:gridCol>
                <a:gridCol w="2405315">
                  <a:extLst>
                    <a:ext uri="{9D8B030D-6E8A-4147-A177-3AD203B41FA5}">
                      <a16:colId xmlns:a16="http://schemas.microsoft.com/office/drawing/2014/main" val="1436058226"/>
                    </a:ext>
                  </a:extLst>
                </a:gridCol>
                <a:gridCol w="3052330">
                  <a:extLst>
                    <a:ext uri="{9D8B030D-6E8A-4147-A177-3AD203B41FA5}">
                      <a16:colId xmlns:a16="http://schemas.microsoft.com/office/drawing/2014/main" val="2557779021"/>
                    </a:ext>
                  </a:extLst>
                </a:gridCol>
              </a:tblGrid>
              <a:tr h="511629"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Layer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Type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Size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Activation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extLst>
                  <a:ext uri="{0D108BD9-81ED-4DB2-BD59-A6C34878D82A}">
                    <a16:rowId xmlns:a16="http://schemas.microsoft.com/office/drawing/2014/main" val="564266015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Input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Image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28x28x1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-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extLst>
                  <a:ext uri="{0D108BD9-81ED-4DB2-BD59-A6C34878D82A}">
                    <a16:rowId xmlns:a16="http://schemas.microsoft.com/office/drawing/2014/main" val="4045395388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r>
                        <a:rPr kumimoji="1" lang="en-US" altLang="ja-JP" sz="2300" dirty="0"/>
                        <a:t>Flatten</a:t>
                      </a:r>
                      <a:endParaRPr kumimoji="1" lang="ja-JP" altLang="en-US" sz="2300" dirty="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Flatten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784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-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extLst>
                  <a:ext uri="{0D108BD9-81ED-4DB2-BD59-A6C34878D82A}">
                    <a16:rowId xmlns:a16="http://schemas.microsoft.com/office/drawing/2014/main" val="3639936735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1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Linear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392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 err="1"/>
                        <a:t>ReLU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extLst>
                  <a:ext uri="{0D108BD9-81ED-4DB2-BD59-A6C34878D82A}">
                    <a16:rowId xmlns:a16="http://schemas.microsoft.com/office/drawing/2014/main" val="674952096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2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Linear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196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 err="1"/>
                        <a:t>ReLU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extLst>
                  <a:ext uri="{0D108BD9-81ED-4DB2-BD59-A6C34878D82A}">
                    <a16:rowId xmlns:a16="http://schemas.microsoft.com/office/drawing/2014/main" val="2281561552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3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Linear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98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 err="1"/>
                        <a:t>ReLU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extLst>
                  <a:ext uri="{0D108BD9-81ED-4DB2-BD59-A6C34878D82A}">
                    <a16:rowId xmlns:a16="http://schemas.microsoft.com/office/drawing/2014/main" val="2169240604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Output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Linear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/>
                        <a:t>10</a:t>
                      </a:r>
                      <a:endParaRPr kumimoji="1" lang="ja-JP" altLang="en-US" sz="2300"/>
                    </a:p>
                  </a:txBody>
                  <a:tcPr marL="116279" marR="116279" marT="58140" marB="58140"/>
                </a:tc>
                <a:tc>
                  <a:txBody>
                    <a:bodyPr/>
                    <a:lstStyle/>
                    <a:p>
                      <a:r>
                        <a:rPr kumimoji="1" lang="en-US" altLang="ja-JP" sz="2300" dirty="0"/>
                        <a:t>Log </a:t>
                      </a:r>
                      <a:r>
                        <a:rPr kumimoji="1" lang="en-US" altLang="ja-JP" sz="2300" dirty="0" err="1"/>
                        <a:t>Softmax</a:t>
                      </a:r>
                      <a:endParaRPr kumimoji="1" lang="ja-JP" altLang="en-US" sz="2300" dirty="0"/>
                    </a:p>
                  </a:txBody>
                  <a:tcPr marL="116279" marR="116279" marT="58140" marB="58140"/>
                </a:tc>
                <a:extLst>
                  <a:ext uri="{0D108BD9-81ED-4DB2-BD59-A6C34878D82A}">
                    <a16:rowId xmlns:a16="http://schemas.microsoft.com/office/drawing/2014/main" val="77561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51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D6DD5A-7C14-14B2-258E-959C9EB0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Training Performance</a:t>
            </a:r>
            <a:endParaRPr kumimoji="1" lang="ja-JP" altLang="en-US" dirty="0"/>
          </a:p>
        </p:txBody>
      </p:sp>
      <p:pic>
        <p:nvPicPr>
          <p:cNvPr id="8" name="コンテンツ プレースホルダー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18B02B8-3E27-F252-B8EA-A0B4F90136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63040"/>
            <a:ext cx="4448175" cy="3027319"/>
          </a:xfrm>
        </p:spPr>
      </p:pic>
      <p:pic>
        <p:nvPicPr>
          <p:cNvPr id="11" name="コンテンツ プレースホルダー 10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E44F59-C14B-6E2E-CD23-AC403689D5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565" y="2286000"/>
            <a:ext cx="4172295" cy="3581400"/>
          </a:xfrm>
        </p:spPr>
      </p:pic>
    </p:spTree>
    <p:extLst>
      <p:ext uri="{BB962C8B-B14F-4D97-AF65-F5344CB8AC3E}">
        <p14:creationId xmlns:p14="http://schemas.microsoft.com/office/powerpoint/2010/main" val="1496060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1E7BD7-4364-FE88-2FAF-4E685789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Implementing Dropout</a:t>
            </a:r>
            <a:endParaRPr kumimoji="1" lang="ja-JP" altLang="en-US" dirty="0"/>
          </a:p>
        </p:txBody>
      </p:sp>
      <p:graphicFrame>
        <p:nvGraphicFramePr>
          <p:cNvPr id="9" name="コンテンツ プレースホルダー 3">
            <a:extLst>
              <a:ext uri="{FF2B5EF4-FFF2-40B4-BE49-F238E27FC236}">
                <a16:creationId xmlns:a16="http://schemas.microsoft.com/office/drawing/2014/main" id="{8137D65D-99B7-3B9C-FC51-36E3CD7BE5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188854"/>
              </p:ext>
            </p:extLst>
          </p:nvPr>
        </p:nvGraphicFramePr>
        <p:xfrm>
          <a:off x="1459650" y="2286000"/>
          <a:ext cx="9425102" cy="3581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1459">
                  <a:extLst>
                    <a:ext uri="{9D8B030D-6E8A-4147-A177-3AD203B41FA5}">
                      <a16:colId xmlns:a16="http://schemas.microsoft.com/office/drawing/2014/main" val="492625597"/>
                    </a:ext>
                  </a:extLst>
                </a:gridCol>
                <a:gridCol w="2176302">
                  <a:extLst>
                    <a:ext uri="{9D8B030D-6E8A-4147-A177-3AD203B41FA5}">
                      <a16:colId xmlns:a16="http://schemas.microsoft.com/office/drawing/2014/main" val="4176513003"/>
                    </a:ext>
                  </a:extLst>
                </a:gridCol>
                <a:gridCol w="2340743">
                  <a:extLst>
                    <a:ext uri="{9D8B030D-6E8A-4147-A177-3AD203B41FA5}">
                      <a16:colId xmlns:a16="http://schemas.microsoft.com/office/drawing/2014/main" val="1436058226"/>
                    </a:ext>
                  </a:extLst>
                </a:gridCol>
                <a:gridCol w="2926598">
                  <a:extLst>
                    <a:ext uri="{9D8B030D-6E8A-4147-A177-3AD203B41FA5}">
                      <a16:colId xmlns:a16="http://schemas.microsoft.com/office/drawing/2014/main" val="2557779021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Layer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Type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Size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Activation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56426601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Input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Image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28x28x1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-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404539538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Flatten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Flatten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784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-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363993673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1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Linear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392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err="1"/>
                        <a:t>ReLU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67495209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Dropout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p=0.2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-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12978554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2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Linear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196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err="1"/>
                        <a:t>ReLU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228156155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Dropout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p=0.2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-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209150933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3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Linear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98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err="1"/>
                        <a:t>ReLU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21692406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Dropout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p=0.2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-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26392426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Output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Linear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10</a:t>
                      </a:r>
                      <a:endParaRPr kumimoji="1" lang="ja-JP" altLang="en-US" sz="1600"/>
                    </a:p>
                  </a:txBody>
                  <a:tcPr marL="81395" marR="81395" marT="40698" marB="40698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Log </a:t>
                      </a:r>
                      <a:r>
                        <a:rPr kumimoji="1" lang="en-US" altLang="ja-JP" sz="1600" dirty="0" err="1"/>
                        <a:t>Softmax</a:t>
                      </a:r>
                      <a:endParaRPr kumimoji="1" lang="ja-JP" altLang="en-US" sz="1600" dirty="0"/>
                    </a:p>
                  </a:txBody>
                  <a:tcPr marL="81395" marR="81395" marT="40698" marB="40698"/>
                </a:tc>
                <a:extLst>
                  <a:ext uri="{0D108BD9-81ED-4DB2-BD59-A6C34878D82A}">
                    <a16:rowId xmlns:a16="http://schemas.microsoft.com/office/drawing/2014/main" val="77561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57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102474-9DBE-BD8C-DDF5-1E604BA72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Training </a:t>
            </a:r>
            <a:r>
              <a:rPr lang="en-US" altLang="ja-JP" dirty="0"/>
              <a:t>Improvements</a:t>
            </a:r>
            <a:endParaRPr kumimoji="1" lang="ja-JP" altLang="en-US" dirty="0"/>
          </a:p>
        </p:txBody>
      </p:sp>
      <p:pic>
        <p:nvPicPr>
          <p:cNvPr id="8" name="コンテンツ プレースホルダー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2C04522-BD49-B389-1038-1BCFFF8B68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80266"/>
            <a:ext cx="4448175" cy="2992868"/>
          </a:xfrm>
        </p:spPr>
      </p:pic>
      <p:pic>
        <p:nvPicPr>
          <p:cNvPr id="11" name="コンテンツ プレースホルダー 10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0369B3-C729-B03E-50DF-BD68473401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565" y="2286000"/>
            <a:ext cx="4172295" cy="3581400"/>
          </a:xfrm>
        </p:spPr>
      </p:pic>
    </p:spTree>
    <p:extLst>
      <p:ext uri="{BB962C8B-B14F-4D97-AF65-F5344CB8AC3E}">
        <p14:creationId xmlns:p14="http://schemas.microsoft.com/office/powerpoint/2010/main" val="2681167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1497F77-C7AB-F9D8-0D06-0D05C4F56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Example Prediction</a:t>
            </a:r>
            <a:endParaRPr lang="ja-JP" altLang="en-US" dirty="0"/>
          </a:p>
        </p:txBody>
      </p:sp>
      <p:pic>
        <p:nvPicPr>
          <p:cNvPr id="8" name="コンテンツ プレースホルダー 7" descr="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4BF1FFAE-005B-B8C0-08F4-09EDCB47A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14" y="1497106"/>
            <a:ext cx="8906771" cy="4191000"/>
          </a:xfrm>
        </p:spPr>
      </p:pic>
    </p:spTree>
    <p:extLst>
      <p:ext uri="{BB962C8B-B14F-4D97-AF65-F5344CB8AC3E}">
        <p14:creationId xmlns:p14="http://schemas.microsoft.com/office/powerpoint/2010/main" val="191651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EE35D0-1436-B1E0-0822-335CACCB1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Optimiser</a:t>
            </a:r>
            <a:r>
              <a:rPr kumimoji="1" lang="en-US" altLang="ja-JP" dirty="0"/>
              <a:t> Comparison</a:t>
            </a:r>
            <a:endParaRPr kumimoji="1" lang="ja-JP" altLang="en-US" dirty="0"/>
          </a:p>
        </p:txBody>
      </p:sp>
      <p:pic>
        <p:nvPicPr>
          <p:cNvPr id="7" name="コンテンツ プレースホルダー 6" descr="グラフィカル ユーザー インターフェイス, グラフ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3712B70-7A5B-FDD2-3982-ADE4D5264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64" y="1837452"/>
            <a:ext cx="10724438" cy="2671795"/>
          </a:xfrm>
        </p:spPr>
      </p:pic>
    </p:spTree>
    <p:extLst>
      <p:ext uri="{BB962C8B-B14F-4D97-AF65-F5344CB8AC3E}">
        <p14:creationId xmlns:p14="http://schemas.microsoft.com/office/powerpoint/2010/main" val="93685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D3DF80-F0DA-1556-353B-295C73F06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Accuracy Comparison</a:t>
            </a:r>
            <a:endParaRPr kumimoji="1" lang="ja-JP" altLang="en-US" dirty="0"/>
          </a:p>
        </p:txBody>
      </p:sp>
      <p:pic>
        <p:nvPicPr>
          <p:cNvPr id="8" name="コンテンツ プレースホルダー 7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8929655F-A14A-D361-339E-6F6AD4130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351" y="1714192"/>
            <a:ext cx="5521297" cy="4458008"/>
          </a:xfrm>
        </p:spPr>
      </p:pic>
    </p:spTree>
    <p:extLst>
      <p:ext uri="{BB962C8B-B14F-4D97-AF65-F5344CB8AC3E}">
        <p14:creationId xmlns:p14="http://schemas.microsoft.com/office/powerpoint/2010/main" val="287476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2D4F4F-E161-3D91-74DE-4B87B7A7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Data Augmentation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5" name="コンテンツ プレースホルダー 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9EA4682-6153-B240-DFAF-2F74B9B1A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95" y="1453101"/>
            <a:ext cx="8953409" cy="4719099"/>
          </a:xfrm>
        </p:spPr>
      </p:pic>
    </p:spTree>
    <p:extLst>
      <p:ext uri="{BB962C8B-B14F-4D97-AF65-F5344CB8AC3E}">
        <p14:creationId xmlns:p14="http://schemas.microsoft.com/office/powerpoint/2010/main" val="247094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C095E2-014A-E3F8-EBB0-5F2E9424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Impact on training</a:t>
            </a:r>
            <a:endParaRPr kumimoji="1" lang="ja-JP" altLang="en-US" dirty="0"/>
          </a:p>
        </p:txBody>
      </p:sp>
      <p:pic>
        <p:nvPicPr>
          <p:cNvPr id="7" name="コンテンツ プレースホルダー 6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707BFEA-C94E-FEBC-BD4C-8A3CA0C451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1" y="2029834"/>
            <a:ext cx="4781550" cy="3826915"/>
          </a:xfrm>
        </p:spPr>
      </p:pic>
      <p:pic>
        <p:nvPicPr>
          <p:cNvPr id="9" name="コンテンツ プレースホルダー 8" descr="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E98B4F4F-2370-9E99-02A5-ECDE7415C9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75" y="2029834"/>
            <a:ext cx="5623057" cy="3826915"/>
          </a:xfrm>
        </p:spPr>
      </p:pic>
    </p:spTree>
    <p:extLst>
      <p:ext uri="{BB962C8B-B14F-4D97-AF65-F5344CB8AC3E}">
        <p14:creationId xmlns:p14="http://schemas.microsoft.com/office/powerpoint/2010/main" val="410119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CE46C-FFB3-8185-6EF7-17A41D69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CNN Architecture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8552C-13F0-A9BE-12FB-4E1E4C39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4 convolution layers with 2 max pool layers.</a:t>
            </a:r>
          </a:p>
          <a:p>
            <a:r>
              <a:rPr kumimoji="1" lang="en-US" altLang="ja-JP" dirty="0"/>
              <a:t>3 Dense layers after flattening the output of the convolution layers.</a:t>
            </a:r>
            <a:endParaRPr kumimoji="1" lang="ja-JP" altLang="en-US" dirty="0"/>
          </a:p>
        </p:txBody>
      </p:sp>
      <p:pic>
        <p:nvPicPr>
          <p:cNvPr id="6" name="図 5" descr="衛星のcg&#10;&#10;AI 生成コンテンツは誤りを含む可能性があります。">
            <a:extLst>
              <a:ext uri="{FF2B5EF4-FFF2-40B4-BE49-F238E27FC236}">
                <a16:creationId xmlns:a16="http://schemas.microsoft.com/office/drawing/2014/main" id="{FCFF616B-7A3E-6256-335D-18312FEE9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293" y="3568263"/>
            <a:ext cx="9083813" cy="24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71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3D7C79-3DDD-E2BD-6A43-D3D0BDE8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Overall: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C8302839-D377-4C15-5136-B62C86C30E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208744"/>
              </p:ext>
            </p:extLst>
          </p:nvPr>
        </p:nvGraphicFramePr>
        <p:xfrm>
          <a:off x="1484792" y="2286000"/>
          <a:ext cx="9374819" cy="35814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5444">
                  <a:extLst>
                    <a:ext uri="{9D8B030D-6E8A-4147-A177-3AD203B41FA5}">
                      <a16:colId xmlns:a16="http://schemas.microsoft.com/office/drawing/2014/main" val="1879966933"/>
                    </a:ext>
                  </a:extLst>
                </a:gridCol>
                <a:gridCol w="1361792">
                  <a:extLst>
                    <a:ext uri="{9D8B030D-6E8A-4147-A177-3AD203B41FA5}">
                      <a16:colId xmlns:a16="http://schemas.microsoft.com/office/drawing/2014/main" val="1963412920"/>
                    </a:ext>
                  </a:extLst>
                </a:gridCol>
                <a:gridCol w="1502877">
                  <a:extLst>
                    <a:ext uri="{9D8B030D-6E8A-4147-A177-3AD203B41FA5}">
                      <a16:colId xmlns:a16="http://schemas.microsoft.com/office/drawing/2014/main" val="1574051892"/>
                    </a:ext>
                  </a:extLst>
                </a:gridCol>
                <a:gridCol w="1275444">
                  <a:extLst>
                    <a:ext uri="{9D8B030D-6E8A-4147-A177-3AD203B41FA5}">
                      <a16:colId xmlns:a16="http://schemas.microsoft.com/office/drawing/2014/main" val="4030585622"/>
                    </a:ext>
                  </a:extLst>
                </a:gridCol>
                <a:gridCol w="1293798">
                  <a:extLst>
                    <a:ext uri="{9D8B030D-6E8A-4147-A177-3AD203B41FA5}">
                      <a16:colId xmlns:a16="http://schemas.microsoft.com/office/drawing/2014/main" val="3712970586"/>
                    </a:ext>
                  </a:extLst>
                </a:gridCol>
                <a:gridCol w="1275444">
                  <a:extLst>
                    <a:ext uri="{9D8B030D-6E8A-4147-A177-3AD203B41FA5}">
                      <a16:colId xmlns:a16="http://schemas.microsoft.com/office/drawing/2014/main" val="1158452690"/>
                    </a:ext>
                  </a:extLst>
                </a:gridCol>
                <a:gridCol w="1390020">
                  <a:extLst>
                    <a:ext uri="{9D8B030D-6E8A-4147-A177-3AD203B41FA5}">
                      <a16:colId xmlns:a16="http://schemas.microsoft.com/office/drawing/2014/main" val="3634120696"/>
                    </a:ext>
                  </a:extLst>
                </a:gridCol>
              </a:tblGrid>
              <a:tr h="255815">
                <a:tc gridSpan="2">
                  <a:txBody>
                    <a:bodyPr/>
                    <a:lstStyle/>
                    <a:p>
                      <a:r>
                        <a:rPr kumimoji="1" lang="en-US" altLang="ja-JP" sz="1100" dirty="0"/>
                        <a:t>Layer</a:t>
                      </a:r>
                      <a:endParaRPr kumimoji="1" lang="ja-JP" altLang="en-US" sz="1100" dirty="0"/>
                    </a:p>
                  </a:txBody>
                  <a:tcPr marL="58140" marR="58140" marT="29070" marB="29070"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Feature Maps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Size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Kernel Size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Stride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Activation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3954135237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Input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Image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1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28x28x1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548919792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1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Convolution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26x26x32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3x3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(1,1)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ReLU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3886249736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Convolution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24x24x32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3x3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(1,1)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ReLU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3027534296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Max Pooling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12x12x32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2x2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(2,2)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244308664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Convolution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64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10x10x64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3x3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(1,1)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ReLU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966646218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Convolution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64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8x8x64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3x3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(1,1)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ReLU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2499623719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Max Pooling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64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4x4x64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2x2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(2,2)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2615999554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Flatten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1024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1776601208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5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Linear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128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ReLU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2728840207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Dropout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p=0.5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2386799453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6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Linear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64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ReLU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4058937682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Dropout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p=0.5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2936755122"/>
                  </a:ext>
                </a:extLst>
              </a:tr>
              <a:tr h="255815"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Output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Linear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10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/>
                        <a:t>-</a:t>
                      </a:r>
                      <a:endParaRPr kumimoji="1" lang="ja-JP" altLang="en-US" sz="1100"/>
                    </a:p>
                  </a:txBody>
                  <a:tcPr marL="58140" marR="58140" marT="29070" marB="29070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Log </a:t>
                      </a:r>
                      <a:r>
                        <a:rPr kumimoji="1" lang="en-US" altLang="ja-JP" sz="1100" dirty="0" err="1"/>
                        <a:t>Softmax</a:t>
                      </a:r>
                      <a:endParaRPr kumimoji="1" lang="ja-JP" altLang="en-US" sz="1100" dirty="0"/>
                    </a:p>
                  </a:txBody>
                  <a:tcPr marL="58140" marR="58140" marT="29070" marB="29070"/>
                </a:tc>
                <a:extLst>
                  <a:ext uri="{0D108BD9-81ED-4DB2-BD59-A6C34878D82A}">
                    <a16:rowId xmlns:a16="http://schemas.microsoft.com/office/drawing/2014/main" val="334401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5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FB445-6F04-B5E1-A6F4-012DD571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Performance</a:t>
            </a:r>
            <a:endParaRPr kumimoji="1" lang="ja-JP" altLang="en-US" dirty="0"/>
          </a:p>
        </p:txBody>
      </p:sp>
      <p:pic>
        <p:nvPicPr>
          <p:cNvPr id="8" name="コンテンツ プレースホルダー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687AEE34-E97F-DA16-B825-A162EE89EB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63040"/>
            <a:ext cx="4448175" cy="3027319"/>
          </a:xfrm>
        </p:spPr>
      </p:pic>
      <p:pic>
        <p:nvPicPr>
          <p:cNvPr id="11" name="コンテンツ プレースホルダー 10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72290CE-6BC3-875A-B885-5B242E21B5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565" y="2286000"/>
            <a:ext cx="4172295" cy="3581400"/>
          </a:xfrm>
        </p:spPr>
      </p:pic>
    </p:spTree>
    <p:extLst>
      <p:ext uri="{BB962C8B-B14F-4D97-AF65-F5344CB8AC3E}">
        <p14:creationId xmlns:p14="http://schemas.microsoft.com/office/powerpoint/2010/main" val="600951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CA8F94-1459-7625-9002-51027F69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コンテンツ プレースホルダー 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8DC28982-5887-4B19-47C1-C2F14F8CC8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84" y="317733"/>
            <a:ext cx="5262517" cy="6222533"/>
          </a:xfrm>
        </p:spPr>
      </p:pic>
      <p:pic>
        <p:nvPicPr>
          <p:cNvPr id="8" name="コンテンツ プレースホルダー 7" descr="建物, アパー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4140B67-0CA8-AA1B-1F8F-D1C329C22D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7734"/>
            <a:ext cx="5262517" cy="6222532"/>
          </a:xfrm>
        </p:spPr>
      </p:pic>
    </p:spTree>
    <p:extLst>
      <p:ext uri="{BB962C8B-B14F-4D97-AF65-F5344CB8AC3E}">
        <p14:creationId xmlns:p14="http://schemas.microsoft.com/office/powerpoint/2010/main" val="2767717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2270A88-9495-0AE4-4D90-D0ED67B4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Metric Comparison</a:t>
            </a:r>
            <a:endParaRPr lang="ja-JP" altLang="en-US" dirty="0"/>
          </a:p>
        </p:txBody>
      </p:sp>
      <p:pic>
        <p:nvPicPr>
          <p:cNvPr id="8" name="コンテンツ プレースホルダー 7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282851AD-7CFF-5A8B-6217-D58574C40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35524"/>
            <a:ext cx="9601200" cy="3482351"/>
          </a:xfrm>
        </p:spPr>
      </p:pic>
    </p:spTree>
    <p:extLst>
      <p:ext uri="{BB962C8B-B14F-4D97-AF65-F5344CB8AC3E}">
        <p14:creationId xmlns:p14="http://schemas.microsoft.com/office/powerpoint/2010/main" val="112598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B0D47-A7D7-5539-5F46-80293CE0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Other ways to mitigate overfitting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7A6AEA-C476-27F1-905F-90747AFA9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Gradient clipping </a:t>
            </a:r>
          </a:p>
          <a:p>
            <a:r>
              <a:rPr kumimoji="1" lang="en-US" altLang="ja-JP" dirty="0"/>
              <a:t>Early stopping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1478476"/>
      </p:ext>
    </p:extLst>
  </p:cSld>
  <p:clrMapOvr>
    <a:masterClrMapping/>
  </p:clrMapOvr>
</p:sld>
</file>

<file path=ppt/theme/theme1.xml><?xml version="1.0" encoding="utf-8"?>
<a:theme xmlns:a="http://schemas.openxmlformats.org/drawingml/2006/main" name="トリミング">
  <a:themeElements>
    <a:clrScheme name="グレースケール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トリミン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トリミン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TM10001105[[fn=トリミング]]</Template>
  <TotalTime>253</TotalTime>
  <Words>250</Words>
  <Application>Microsoft Office PowerPoint</Application>
  <PresentationFormat>ワイド画面</PresentationFormat>
  <Paragraphs>177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8" baseType="lpstr">
      <vt:lpstr>Franklin Gothic Book</vt:lpstr>
      <vt:lpstr>トリミング</vt:lpstr>
      <vt:lpstr>Neural Systems Coursework</vt:lpstr>
      <vt:lpstr>ANN Architecture</vt:lpstr>
      <vt:lpstr>Training Performance</vt:lpstr>
      <vt:lpstr>Implementing Dropout</vt:lpstr>
      <vt:lpstr>Training Improvements</vt:lpstr>
      <vt:lpstr>Example Prediction</vt:lpstr>
      <vt:lpstr>Optimiser Comparison</vt:lpstr>
      <vt:lpstr>Accuracy Comparison</vt:lpstr>
      <vt:lpstr>Data Augmentation </vt:lpstr>
      <vt:lpstr>Impact on training</vt:lpstr>
      <vt:lpstr>CNN Architecture</vt:lpstr>
      <vt:lpstr>Overall:</vt:lpstr>
      <vt:lpstr>Performance</vt:lpstr>
      <vt:lpstr>PowerPoint プレゼンテーション</vt:lpstr>
      <vt:lpstr>Metric Comparison</vt:lpstr>
      <vt:lpstr>Other ways to mitigate overfitting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Myles Wheatley</dc:creator>
  <cp:lastModifiedBy>Myles Wheatley</cp:lastModifiedBy>
  <cp:revision>5</cp:revision>
  <dcterms:created xsi:type="dcterms:W3CDTF">2025-10-28T10:16:29Z</dcterms:created>
  <dcterms:modified xsi:type="dcterms:W3CDTF">2025-11-04T16:17:41Z</dcterms:modified>
</cp:coreProperties>
</file>